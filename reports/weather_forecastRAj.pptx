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4"/>
  </p:notesMasterIdLst>
  <p:sldIdLst>
    <p:sldId id="258" r:id="rId2"/>
    <p:sldId id="259" r:id="rId3"/>
    <p:sldId id="260" r:id="rId4"/>
    <p:sldId id="261" r:id="rId5"/>
    <p:sldId id="270" r:id="rId6"/>
    <p:sldId id="271" r:id="rId7"/>
    <p:sldId id="262" r:id="rId8"/>
    <p:sldId id="263" r:id="rId9"/>
    <p:sldId id="264" r:id="rId10"/>
    <p:sldId id="265" r:id="rId11"/>
    <p:sldId id="266" r:id="rId12"/>
    <p:sldId id="267" r:id="rId13"/>
  </p:sldIdLst>
  <p:sldSz cx="18288000" cy="10287000"/>
  <p:notesSz cx="6858000" cy="9144000"/>
  <p:embeddedFontLst>
    <p:embeddedFont>
      <p:font typeface="Open Sans" panose="020B0606030504020204" pitchFamily="34" charset="0"/>
      <p:regular r:id="rId15"/>
      <p:bold r:id="rId16"/>
      <p:italic r:id="rId17"/>
      <p:boldItalic r:id="rId18"/>
    </p:embeddedFont>
    <p:embeddedFont>
      <p:font typeface="Russo One" panose="02000503050000020004" pitchFamily="2"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46"/>
    <p:restoredTop sz="94676"/>
  </p:normalViewPr>
  <p:slideViewPr>
    <p:cSldViewPr snapToGrid="0">
      <p:cViewPr>
        <p:scale>
          <a:sx n="70" d="100"/>
          <a:sy n="70" d="100"/>
        </p:scale>
        <p:origin x="672"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857EC613-5B83-DC97-E0CA-B9C684C82DDB}"/>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0471FF49-6515-4E07-2DCD-5296F03B4D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594791C9-F0EE-7146-3095-67EF67D993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643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F6445659-7BFA-C9FF-1D34-962EF0545B9D}"/>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EEB5DD50-3CFF-2C84-C8BA-A789DCD04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A049CAC1-8F79-F3D7-3001-CFC209FBB7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7607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FC4ECB85-4F75-5F1F-22FC-797A281F034C}"/>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5453795E-8277-29CB-A7F3-F6BC1845E9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C3540852-68CB-33F5-06F8-E3DB399DA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635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C52D4511-98D4-1976-D75A-BA7AF3286446}"/>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FE4922ED-D844-A1B9-BCAC-F7DA7C7D9A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86C871FB-049B-2248-2C4D-C2EACD91BB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073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B86558EC-28BB-C7B0-9252-7E62727A6807}"/>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B9ABDA6F-3D70-9B04-EDC7-5FF03BE7E6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19B04062-310B-5C21-062A-ED59CAD6C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437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87AA0752-2EFE-39AE-3F5A-B346FE6128F0}"/>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962213FA-D98E-F2DE-1221-1E06CA13DF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C04B482B-6D85-27AA-32C2-2A3E280F03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5407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8FE419CE-584C-E218-CBCB-0A507D4E8758}"/>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06D39372-1DAE-7409-F79A-84E594335D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C1EB5211-03DF-07AD-F4E6-F12E1E130C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1879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A1C4A7D0-0D0F-58E5-C07A-422B13EAFBFB}"/>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A54A034B-FEC9-3855-67CA-2ECD367660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34136EEB-E509-BC3C-01EE-2433F29009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330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527ABE8E-901F-FBD5-9C79-7CECF494454D}"/>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44FD2FBD-3410-F7AC-EEBF-66F2738B81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A50CAA39-CAFF-F8D3-ABC2-F43E5796CA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4618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7D18F260-3E21-3C2A-36E3-410101C49440}"/>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CF03A549-46B8-1F92-E6DF-5C9BE70B16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8747684E-EC2F-7718-ADCA-D05FD879F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5962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18055A23-2C8B-DEDD-075E-ADDCB314210C}"/>
            </a:ext>
          </a:extLst>
        </p:cNvPr>
        <p:cNvGrpSpPr/>
        <p:nvPr/>
      </p:nvGrpSpPr>
      <p:grpSpPr>
        <a:xfrm>
          <a:off x="0" y="0"/>
          <a:ext cx="0" cy="0"/>
          <a:chOff x="0" y="0"/>
          <a:chExt cx="0" cy="0"/>
        </a:xfrm>
      </p:grpSpPr>
      <p:sp>
        <p:nvSpPr>
          <p:cNvPr id="158" name="Google Shape;158;p3:notes">
            <a:extLst>
              <a:ext uri="{FF2B5EF4-FFF2-40B4-BE49-F238E27FC236}">
                <a16:creationId xmlns:a16="http://schemas.microsoft.com/office/drawing/2014/main" id="{EFA9416B-C621-42A8-A91A-E6E0B4B05D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a:extLst>
              <a:ext uri="{FF2B5EF4-FFF2-40B4-BE49-F238E27FC236}">
                <a16:creationId xmlns:a16="http://schemas.microsoft.com/office/drawing/2014/main" id="{5810902D-17E5-A139-F688-18C220DEE2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04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pic>
        <p:nvPicPr>
          <p:cNvPr id="20" name="Google Shape;20;p4"/>
          <p:cNvPicPr preferRelativeResize="0"/>
          <p:nvPr/>
        </p:nvPicPr>
        <p:blipFill>
          <a:blip r:embed="rId2">
            <a:alphaModFix/>
          </a:blip>
          <a:stretch>
            <a:fillRect/>
          </a:stretch>
        </p:blipFill>
        <p:spPr>
          <a:xfrm>
            <a:off x="6370875" y="-3150875"/>
            <a:ext cx="28688051" cy="28688026"/>
          </a:xfrm>
          <a:prstGeom prst="rect">
            <a:avLst/>
          </a:prstGeom>
          <a:noFill/>
          <a:ln>
            <a:noFill/>
          </a:ln>
        </p:spPr>
      </p:pic>
      <p:sp>
        <p:nvSpPr>
          <p:cNvPr id="21" name="Google Shape;21;p4"/>
          <p:cNvSpPr txBox="1">
            <a:spLocks noGrp="1"/>
          </p:cNvSpPr>
          <p:nvPr>
            <p:ph type="body" idx="1"/>
          </p:nvPr>
        </p:nvSpPr>
        <p:spPr>
          <a:xfrm>
            <a:off x="1565550" y="43361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22" name="Google Shape;22;p4"/>
          <p:cNvPicPr preferRelativeResize="0"/>
          <p:nvPr/>
        </p:nvPicPr>
        <p:blipFill>
          <a:blip r:embed="rId3">
            <a:alphaModFix/>
          </a:blip>
          <a:stretch>
            <a:fillRect/>
          </a:stretch>
        </p:blipFill>
        <p:spPr>
          <a:xfrm>
            <a:off x="-6829475" y="-4611125"/>
            <a:ext cx="10068601" cy="9767751"/>
          </a:xfrm>
          <a:prstGeom prst="rect">
            <a:avLst/>
          </a:prstGeom>
          <a:noFill/>
          <a:ln>
            <a:noFill/>
          </a:ln>
        </p:spPr>
      </p:pic>
      <p:sp>
        <p:nvSpPr>
          <p:cNvPr id="23" name="Google Shape;23;p4"/>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4">
              <a:alphaModFix/>
            </a:blip>
            <a:stretch>
              <a:fillRect/>
            </a:stretch>
          </a:blipFill>
          <a:ln>
            <a:noFill/>
          </a:ln>
        </p:spPr>
      </p:sp>
      <p:sp>
        <p:nvSpPr>
          <p:cNvPr id="24" name="Google Shape;24;p4"/>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25" name="Google Shape;25;p4"/>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26" name="Google Shape;26;p4"/>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27" name="Google Shape;27;p4"/>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28" name="Google Shape;28;p4"/>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29" name="Google Shape;29;p4"/>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pic>
        <p:nvPicPr>
          <p:cNvPr id="31" name="Google Shape;31;p5"/>
          <p:cNvPicPr preferRelativeResize="0"/>
          <p:nvPr/>
        </p:nvPicPr>
        <p:blipFill>
          <a:blip r:embed="rId2">
            <a:alphaModFix/>
          </a:blip>
          <a:stretch>
            <a:fillRect/>
          </a:stretch>
        </p:blipFill>
        <p:spPr>
          <a:xfrm>
            <a:off x="4090074" y="-4409076"/>
            <a:ext cx="28184550" cy="28184576"/>
          </a:xfrm>
          <a:prstGeom prst="rect">
            <a:avLst/>
          </a:prstGeom>
          <a:noFill/>
          <a:ln>
            <a:noFill/>
          </a:ln>
        </p:spPr>
      </p:pic>
      <p:sp>
        <p:nvSpPr>
          <p:cNvPr id="32" name="Google Shape;32;p5"/>
          <p:cNvSpPr txBox="1">
            <a:spLocks noGrp="1"/>
          </p:cNvSpPr>
          <p:nvPr>
            <p:ph type="body" idx="1"/>
          </p:nvPr>
        </p:nvSpPr>
        <p:spPr>
          <a:xfrm>
            <a:off x="1879288" y="6559688"/>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400"/>
              <a:buNone/>
              <a:defRPr/>
            </a:lvl1pPr>
            <a:lvl2pPr marL="914400" lvl="1" indent="-228600" algn="l">
              <a:spcBef>
                <a:spcPts val="360"/>
              </a:spcBef>
              <a:spcAft>
                <a:spcPts val="0"/>
              </a:spcAft>
              <a:buSzPts val="2400"/>
              <a:buNone/>
              <a:defRPr/>
            </a:lvl2pPr>
            <a:lvl3pPr marL="1371600" lvl="2" indent="-228600" algn="l">
              <a:spcBef>
                <a:spcPts val="320"/>
              </a:spcBef>
              <a:spcAft>
                <a:spcPts val="0"/>
              </a:spcAft>
              <a:buSzPts val="2400"/>
              <a:buNone/>
              <a:defRPr/>
            </a:lvl3pPr>
            <a:lvl4pPr marL="1828800" lvl="3" indent="-228600" algn="l">
              <a:spcBef>
                <a:spcPts val="280"/>
              </a:spcBef>
              <a:spcAft>
                <a:spcPts val="0"/>
              </a:spcAft>
              <a:buSzPts val="2400"/>
              <a:buNone/>
              <a:defRPr/>
            </a:lvl4pPr>
            <a:lvl5pPr marL="2286000" lvl="4" indent="-228600" algn="l">
              <a:spcBef>
                <a:spcPts val="280"/>
              </a:spcBef>
              <a:spcAft>
                <a:spcPts val="0"/>
              </a:spcAft>
              <a:buSzPts val="2400"/>
              <a:buNone/>
              <a:defRPr/>
            </a:lvl5pPr>
            <a:lvl6pPr marL="2743200" lvl="5" indent="-228600" algn="l">
              <a:spcBef>
                <a:spcPts val="280"/>
              </a:spcBef>
              <a:spcAft>
                <a:spcPts val="0"/>
              </a:spcAft>
              <a:buSzPts val="2400"/>
              <a:buNone/>
              <a:defRPr/>
            </a:lvl6pPr>
            <a:lvl7pPr marL="3200400" lvl="6" indent="-228600" algn="l">
              <a:spcBef>
                <a:spcPts val="280"/>
              </a:spcBef>
              <a:spcAft>
                <a:spcPts val="0"/>
              </a:spcAft>
              <a:buSzPts val="2400"/>
              <a:buNone/>
              <a:defRPr/>
            </a:lvl7pPr>
            <a:lvl8pPr marL="3657600" lvl="7" indent="-228600" algn="l">
              <a:spcBef>
                <a:spcPts val="280"/>
              </a:spcBef>
              <a:spcAft>
                <a:spcPts val="0"/>
              </a:spcAft>
              <a:buSzPts val="2400"/>
              <a:buNone/>
              <a:defRPr/>
            </a:lvl8pPr>
            <a:lvl9pPr marL="4114800" lvl="8" indent="-228600" algn="l">
              <a:spcBef>
                <a:spcPts val="280"/>
              </a:spcBef>
              <a:spcAft>
                <a:spcPts val="0"/>
              </a:spcAft>
              <a:buSzPts val="2400"/>
              <a:buNone/>
              <a:defRPr/>
            </a:lvl9pPr>
          </a:lstStyle>
          <a:p>
            <a:endParaRPr/>
          </a:p>
        </p:txBody>
      </p:sp>
      <p:pic>
        <p:nvPicPr>
          <p:cNvPr id="33" name="Google Shape;33;p5"/>
          <p:cNvPicPr preferRelativeResize="0"/>
          <p:nvPr/>
        </p:nvPicPr>
        <p:blipFill>
          <a:blip r:embed="rId3">
            <a:alphaModFix/>
          </a:blip>
          <a:stretch>
            <a:fillRect/>
          </a:stretch>
        </p:blipFill>
        <p:spPr>
          <a:xfrm>
            <a:off x="-6829475" y="-4611125"/>
            <a:ext cx="10068601" cy="9767751"/>
          </a:xfrm>
          <a:prstGeom prst="rect">
            <a:avLst/>
          </a:prstGeom>
          <a:noFill/>
          <a:ln>
            <a:noFill/>
          </a:ln>
        </p:spPr>
      </p:pic>
      <p:sp>
        <p:nvSpPr>
          <p:cNvPr id="34" name="Google Shape;34;p5"/>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4">
              <a:alphaModFix/>
            </a:blip>
            <a:stretch>
              <a:fillRect/>
            </a:stretch>
          </a:blipFill>
          <a:ln>
            <a:noFill/>
          </a:ln>
        </p:spPr>
      </p:sp>
      <p:sp>
        <p:nvSpPr>
          <p:cNvPr id="35" name="Google Shape;35;p5"/>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36" name="Google Shape;36;p5"/>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37" name="Google Shape;37;p5"/>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38" name="Google Shape;38;p5"/>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39" name="Google Shape;39;p5"/>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40" name="Google Shape;40;p5"/>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pic>
        <p:nvPicPr>
          <p:cNvPr id="42" name="Google Shape;42;p6"/>
          <p:cNvPicPr preferRelativeResize="0"/>
          <p:nvPr/>
        </p:nvPicPr>
        <p:blipFill>
          <a:blip r:embed="rId2">
            <a:alphaModFix/>
          </a:blip>
          <a:stretch>
            <a:fillRect/>
          </a:stretch>
        </p:blipFill>
        <p:spPr>
          <a:xfrm>
            <a:off x="7908950" y="-2310825"/>
            <a:ext cx="20102175" cy="20320476"/>
          </a:xfrm>
          <a:prstGeom prst="rect">
            <a:avLst/>
          </a:prstGeom>
          <a:noFill/>
          <a:ln>
            <a:noFill/>
          </a:ln>
        </p:spPr>
      </p:pic>
      <p:sp>
        <p:nvSpPr>
          <p:cNvPr id="43" name="Google Shape;43;p6"/>
          <p:cNvSpPr txBox="1">
            <a:spLocks noGrp="1"/>
          </p:cNvSpPr>
          <p:nvPr>
            <p:ph type="body" idx="1"/>
          </p:nvPr>
        </p:nvSpPr>
        <p:spPr>
          <a:xfrm>
            <a:off x="2333350" y="5034975"/>
            <a:ext cx="61650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
        <p:nvSpPr>
          <p:cNvPr id="44" name="Google Shape;44;p6"/>
          <p:cNvSpPr txBox="1">
            <a:spLocks noGrp="1"/>
          </p:cNvSpPr>
          <p:nvPr>
            <p:ph type="body" idx="2"/>
          </p:nvPr>
        </p:nvSpPr>
        <p:spPr>
          <a:xfrm>
            <a:off x="8730922" y="5034975"/>
            <a:ext cx="61650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pic>
        <p:nvPicPr>
          <p:cNvPr id="45" name="Google Shape;45;p6"/>
          <p:cNvPicPr preferRelativeResize="0"/>
          <p:nvPr/>
        </p:nvPicPr>
        <p:blipFill>
          <a:blip r:embed="rId3">
            <a:alphaModFix/>
          </a:blip>
          <a:stretch>
            <a:fillRect/>
          </a:stretch>
        </p:blipFill>
        <p:spPr>
          <a:xfrm>
            <a:off x="-6829475" y="-4611125"/>
            <a:ext cx="10068601" cy="9767751"/>
          </a:xfrm>
          <a:prstGeom prst="rect">
            <a:avLst/>
          </a:prstGeom>
          <a:noFill/>
          <a:ln>
            <a:noFill/>
          </a:ln>
        </p:spPr>
      </p:pic>
      <p:sp>
        <p:nvSpPr>
          <p:cNvPr id="46" name="Google Shape;46;p6"/>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4">
              <a:alphaModFix/>
            </a:blip>
            <a:stretch>
              <a:fillRect/>
            </a:stretch>
          </a:blipFill>
          <a:ln>
            <a:noFill/>
          </a:ln>
        </p:spPr>
      </p:sp>
      <p:sp>
        <p:nvSpPr>
          <p:cNvPr id="47" name="Google Shape;47;p6"/>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48" name="Google Shape;48;p6"/>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49" name="Google Shape;49;p6"/>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50" name="Google Shape;50;p6"/>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51" name="Google Shape;51;p6"/>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52" name="Google Shape;52;p6"/>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7"/>
          <p:cNvSpPr txBox="1">
            <a:spLocks noGrp="1"/>
          </p:cNvSpPr>
          <p:nvPr>
            <p:ph type="body" idx="1"/>
          </p:nvPr>
        </p:nvSpPr>
        <p:spPr>
          <a:xfrm>
            <a:off x="2207625" y="4468500"/>
            <a:ext cx="57864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sp>
        <p:nvSpPr>
          <p:cNvPr id="55" name="Google Shape;55;p7"/>
          <p:cNvSpPr txBox="1">
            <a:spLocks noGrp="1"/>
          </p:cNvSpPr>
          <p:nvPr>
            <p:ph type="body" idx="2"/>
          </p:nvPr>
        </p:nvSpPr>
        <p:spPr>
          <a:xfrm>
            <a:off x="8205511" y="4468500"/>
            <a:ext cx="57888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pic>
        <p:nvPicPr>
          <p:cNvPr id="56" name="Google Shape;56;p7"/>
          <p:cNvPicPr preferRelativeResize="0"/>
          <p:nvPr/>
        </p:nvPicPr>
        <p:blipFill>
          <a:blip r:embed="rId2">
            <a:alphaModFix/>
          </a:blip>
          <a:stretch>
            <a:fillRect/>
          </a:stretch>
        </p:blipFill>
        <p:spPr>
          <a:xfrm>
            <a:off x="-6829475" y="-4611125"/>
            <a:ext cx="10068601" cy="9767751"/>
          </a:xfrm>
          <a:prstGeom prst="rect">
            <a:avLst/>
          </a:prstGeom>
          <a:noFill/>
          <a:ln>
            <a:noFill/>
          </a:ln>
        </p:spPr>
      </p:pic>
      <p:sp>
        <p:nvSpPr>
          <p:cNvPr id="57" name="Google Shape;57;p7"/>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3">
              <a:alphaModFix/>
            </a:blip>
            <a:stretch>
              <a:fillRect/>
            </a:stretch>
          </a:blipFill>
          <a:ln>
            <a:noFill/>
          </a:ln>
        </p:spPr>
      </p:sp>
      <p:sp>
        <p:nvSpPr>
          <p:cNvPr id="58" name="Google Shape;58;p7"/>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59" name="Google Shape;59;p7"/>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60" name="Google Shape;60;p7"/>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61" name="Google Shape;61;p7"/>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62" name="Google Shape;62;p7"/>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63" name="Google Shape;63;p7"/>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64" name="Google Shape;64;p7"/>
          <p:cNvPicPr preferRelativeResize="0"/>
          <p:nvPr/>
        </p:nvPicPr>
        <p:blipFill>
          <a:blip r:embed="rId4">
            <a:alphaModFix/>
          </a:blip>
          <a:stretch>
            <a:fillRect/>
          </a:stretch>
        </p:blipFill>
        <p:spPr>
          <a:xfrm>
            <a:off x="15576125" y="5358673"/>
            <a:ext cx="8614049" cy="830327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pic>
        <p:nvPicPr>
          <p:cNvPr id="66" name="Google Shape;66;p8"/>
          <p:cNvPicPr preferRelativeResize="0"/>
          <p:nvPr/>
        </p:nvPicPr>
        <p:blipFill>
          <a:blip r:embed="rId2">
            <a:alphaModFix/>
          </a:blip>
          <a:stretch>
            <a:fillRect/>
          </a:stretch>
        </p:blipFill>
        <p:spPr>
          <a:xfrm>
            <a:off x="-6829475" y="-4611125"/>
            <a:ext cx="10068601" cy="9767751"/>
          </a:xfrm>
          <a:prstGeom prst="rect">
            <a:avLst/>
          </a:prstGeom>
          <a:noFill/>
          <a:ln>
            <a:noFill/>
          </a:ln>
        </p:spPr>
      </p:pic>
      <p:sp>
        <p:nvSpPr>
          <p:cNvPr id="67" name="Google Shape;67;p8"/>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3">
              <a:alphaModFix/>
            </a:blip>
            <a:stretch>
              <a:fillRect/>
            </a:stretch>
          </a:blipFill>
          <a:ln>
            <a:noFill/>
          </a:ln>
        </p:spPr>
      </p:sp>
      <p:sp>
        <p:nvSpPr>
          <p:cNvPr id="68" name="Google Shape;68;p8"/>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69" name="Google Shape;69;p8"/>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70" name="Google Shape;70;p8"/>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71" name="Google Shape;71;p8"/>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72" name="Google Shape;72;p8"/>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73" name="Google Shape;73;p8"/>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74" name="Google Shape;74;p8"/>
          <p:cNvPicPr preferRelativeResize="0"/>
          <p:nvPr/>
        </p:nvPicPr>
        <p:blipFill>
          <a:blip r:embed="rId4">
            <a:alphaModFix/>
          </a:blip>
          <a:stretch>
            <a:fillRect/>
          </a:stretch>
        </p:blipFill>
        <p:spPr>
          <a:xfrm>
            <a:off x="14831575" y="6301500"/>
            <a:ext cx="8625637" cy="82093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5"/>
        <p:cNvGrpSpPr/>
        <p:nvPr/>
      </p:nvGrpSpPr>
      <p:grpSpPr>
        <a:xfrm>
          <a:off x="0" y="0"/>
          <a:ext cx="0" cy="0"/>
          <a:chOff x="0" y="0"/>
          <a:chExt cx="0" cy="0"/>
        </a:xfrm>
      </p:grpSpPr>
      <p:pic>
        <p:nvPicPr>
          <p:cNvPr id="76" name="Google Shape;76;p9"/>
          <p:cNvPicPr preferRelativeResize="0"/>
          <p:nvPr/>
        </p:nvPicPr>
        <p:blipFill>
          <a:blip r:embed="rId2">
            <a:alphaModFix/>
          </a:blip>
          <a:stretch>
            <a:fillRect/>
          </a:stretch>
        </p:blipFill>
        <p:spPr>
          <a:xfrm>
            <a:off x="-6829475" y="-4611125"/>
            <a:ext cx="10068601" cy="9767751"/>
          </a:xfrm>
          <a:prstGeom prst="rect">
            <a:avLst/>
          </a:prstGeom>
          <a:noFill/>
          <a:ln>
            <a:noFill/>
          </a:ln>
        </p:spPr>
      </p:pic>
      <p:sp>
        <p:nvSpPr>
          <p:cNvPr id="77" name="Google Shape;77;p9"/>
          <p:cNvSpPr txBox="1">
            <a:spLocks noGrp="1"/>
          </p:cNvSpPr>
          <p:nvPr>
            <p:ph type="body" idx="1"/>
          </p:nvPr>
        </p:nvSpPr>
        <p:spPr>
          <a:xfrm>
            <a:off x="7954175" y="4468500"/>
            <a:ext cx="6561900" cy="5853000"/>
          </a:xfrm>
          <a:prstGeom prst="rect">
            <a:avLst/>
          </a:prstGeom>
          <a:noFill/>
          <a:ln>
            <a:noFill/>
          </a:ln>
        </p:spPr>
        <p:txBody>
          <a:bodyPr spcFirstLastPara="1" wrap="square" lIns="91425" tIns="45700" rIns="91425" bIns="45700" anchor="t" anchorCtr="0">
            <a:normAutofit/>
          </a:bodyPr>
          <a:lstStyle>
            <a:lvl1pPr marL="457200" lvl="0" indent="-381000" algn="l">
              <a:spcBef>
                <a:spcPts val="640"/>
              </a:spcBef>
              <a:spcAft>
                <a:spcPts val="0"/>
              </a:spcAft>
              <a:buClr>
                <a:schemeClr val="dk1"/>
              </a:buClr>
              <a:buSzPts val="2400"/>
              <a:buChar char="•"/>
              <a:defRPr/>
            </a:lvl1pPr>
            <a:lvl2pPr marL="914400" lvl="1" indent="-381000" algn="l">
              <a:spcBef>
                <a:spcPts val="560"/>
              </a:spcBef>
              <a:spcAft>
                <a:spcPts val="0"/>
              </a:spcAft>
              <a:buClr>
                <a:schemeClr val="dk1"/>
              </a:buClr>
              <a:buSzPts val="2400"/>
              <a:buChar char="–"/>
              <a:defRPr/>
            </a:lvl2pPr>
            <a:lvl3pPr marL="1371600" lvl="2" indent="-381000" algn="l">
              <a:spcBef>
                <a:spcPts val="480"/>
              </a:spcBef>
              <a:spcAft>
                <a:spcPts val="0"/>
              </a:spcAft>
              <a:buClr>
                <a:schemeClr val="dk1"/>
              </a:buClr>
              <a:buSzPts val="2400"/>
              <a:buChar char="•"/>
              <a:defRPr/>
            </a:lvl3pPr>
            <a:lvl4pPr marL="1828800" lvl="3" indent="-381000" algn="l">
              <a:spcBef>
                <a:spcPts val="400"/>
              </a:spcBef>
              <a:spcAft>
                <a:spcPts val="0"/>
              </a:spcAft>
              <a:buClr>
                <a:schemeClr val="dk1"/>
              </a:buClr>
              <a:buSzPts val="2400"/>
              <a:buChar char="–"/>
              <a:defRPr/>
            </a:lvl4pPr>
            <a:lvl5pPr marL="2286000" lvl="4" indent="-381000" algn="l">
              <a:spcBef>
                <a:spcPts val="400"/>
              </a:spcBef>
              <a:spcAft>
                <a:spcPts val="0"/>
              </a:spcAft>
              <a:buClr>
                <a:schemeClr val="dk1"/>
              </a:buClr>
              <a:buSzPts val="2400"/>
              <a:buChar char="»"/>
              <a:defRPr/>
            </a:lvl5pPr>
            <a:lvl6pPr marL="2743200" lvl="5" indent="-381000" algn="l">
              <a:spcBef>
                <a:spcPts val="400"/>
              </a:spcBef>
              <a:spcAft>
                <a:spcPts val="0"/>
              </a:spcAft>
              <a:buClr>
                <a:schemeClr val="dk1"/>
              </a:buClr>
              <a:buSzPts val="2400"/>
              <a:buChar char="•"/>
              <a:defRPr/>
            </a:lvl6pPr>
            <a:lvl7pPr marL="3200400" lvl="6" indent="-381000" algn="l">
              <a:spcBef>
                <a:spcPts val="400"/>
              </a:spcBef>
              <a:spcAft>
                <a:spcPts val="0"/>
              </a:spcAft>
              <a:buClr>
                <a:schemeClr val="dk1"/>
              </a:buClr>
              <a:buSzPts val="2400"/>
              <a:buChar char="•"/>
              <a:defRPr/>
            </a:lvl7pPr>
            <a:lvl8pPr marL="3657600" lvl="7" indent="-381000" algn="l">
              <a:spcBef>
                <a:spcPts val="400"/>
              </a:spcBef>
              <a:spcAft>
                <a:spcPts val="0"/>
              </a:spcAft>
              <a:buClr>
                <a:schemeClr val="dk1"/>
              </a:buClr>
              <a:buSzPts val="2400"/>
              <a:buChar char="•"/>
              <a:defRPr/>
            </a:lvl8pPr>
            <a:lvl9pPr marL="4114800" lvl="8" indent="-381000" algn="l">
              <a:spcBef>
                <a:spcPts val="400"/>
              </a:spcBef>
              <a:spcAft>
                <a:spcPts val="0"/>
              </a:spcAft>
              <a:buClr>
                <a:schemeClr val="dk1"/>
              </a:buClr>
              <a:buSzPts val="2400"/>
              <a:buChar char="•"/>
              <a:defRPr/>
            </a:lvl9pPr>
          </a:lstStyle>
          <a:p>
            <a:endParaRPr/>
          </a:p>
        </p:txBody>
      </p:sp>
      <p:sp>
        <p:nvSpPr>
          <p:cNvPr id="78" name="Google Shape;78;p9"/>
          <p:cNvSpPr txBox="1">
            <a:spLocks noGrp="1"/>
          </p:cNvSpPr>
          <p:nvPr>
            <p:ph type="body" idx="2"/>
          </p:nvPr>
        </p:nvSpPr>
        <p:spPr>
          <a:xfrm>
            <a:off x="1700600" y="4468500"/>
            <a:ext cx="61152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endParaRPr/>
          </a:p>
        </p:txBody>
      </p:sp>
      <p:sp>
        <p:nvSpPr>
          <p:cNvPr id="79" name="Google Shape;79;p9"/>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3">
              <a:alphaModFix/>
            </a:blip>
            <a:stretch>
              <a:fillRect/>
            </a:stretch>
          </a:blipFill>
          <a:ln>
            <a:noFill/>
          </a:ln>
        </p:spPr>
      </p:sp>
      <p:sp>
        <p:nvSpPr>
          <p:cNvPr id="80" name="Google Shape;80;p9"/>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81" name="Google Shape;81;p9"/>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82" name="Google Shape;82;p9"/>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83" name="Google Shape;83;p9"/>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84" name="Google Shape;84;p9"/>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85" name="Google Shape;85;p9"/>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86" name="Google Shape;86;p9"/>
          <p:cNvPicPr preferRelativeResize="0"/>
          <p:nvPr/>
        </p:nvPicPr>
        <p:blipFill>
          <a:blip r:embed="rId4">
            <a:alphaModFix/>
          </a:blip>
          <a:stretch>
            <a:fillRect/>
          </a:stretch>
        </p:blipFill>
        <p:spPr>
          <a:xfrm>
            <a:off x="15188550" y="5358678"/>
            <a:ext cx="8483351" cy="80686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a:off x="4260775" y="-3402775"/>
            <a:ext cx="26150651" cy="26150651"/>
          </a:xfrm>
          <a:prstGeom prst="rect">
            <a:avLst/>
          </a:prstGeom>
          <a:noFill/>
          <a:ln>
            <a:noFill/>
          </a:ln>
        </p:spPr>
      </p:pic>
      <p:sp>
        <p:nvSpPr>
          <p:cNvPr id="89" name="Google Shape;89;p10"/>
          <p:cNvSpPr>
            <a:spLocks noGrp="1"/>
          </p:cNvSpPr>
          <p:nvPr>
            <p:ph type="pic" idx="2"/>
          </p:nvPr>
        </p:nvSpPr>
        <p:spPr>
          <a:xfrm>
            <a:off x="9830651" y="4158050"/>
            <a:ext cx="6267600" cy="4700400"/>
          </a:xfrm>
          <a:prstGeom prst="rect">
            <a:avLst/>
          </a:prstGeom>
          <a:noFill/>
          <a:ln>
            <a:noFill/>
          </a:ln>
        </p:spPr>
      </p:sp>
      <p:sp>
        <p:nvSpPr>
          <p:cNvPr id="90" name="Google Shape;90;p10"/>
          <p:cNvSpPr txBox="1">
            <a:spLocks noGrp="1"/>
          </p:cNvSpPr>
          <p:nvPr>
            <p:ph type="body" idx="1"/>
          </p:nvPr>
        </p:nvSpPr>
        <p:spPr>
          <a:xfrm>
            <a:off x="1503613" y="47410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endParaRPr/>
          </a:p>
        </p:txBody>
      </p:sp>
      <p:pic>
        <p:nvPicPr>
          <p:cNvPr id="91" name="Google Shape;91;p10"/>
          <p:cNvPicPr preferRelativeResize="0"/>
          <p:nvPr/>
        </p:nvPicPr>
        <p:blipFill>
          <a:blip r:embed="rId3">
            <a:alphaModFix/>
          </a:blip>
          <a:stretch>
            <a:fillRect/>
          </a:stretch>
        </p:blipFill>
        <p:spPr>
          <a:xfrm>
            <a:off x="-6829475" y="-4611125"/>
            <a:ext cx="10068601" cy="9767751"/>
          </a:xfrm>
          <a:prstGeom prst="rect">
            <a:avLst/>
          </a:prstGeom>
          <a:noFill/>
          <a:ln>
            <a:noFill/>
          </a:ln>
        </p:spPr>
      </p:pic>
      <p:sp>
        <p:nvSpPr>
          <p:cNvPr id="92" name="Google Shape;92;p10"/>
          <p:cNvSpPr/>
          <p:nvPr/>
        </p:nvSpPr>
        <p:spPr>
          <a:xfrm>
            <a:off x="1259565" y="572753"/>
            <a:ext cx="441042" cy="441042"/>
          </a:xfrm>
          <a:custGeom>
            <a:avLst/>
            <a:gdLst/>
            <a:ahLst/>
            <a:cxnLst/>
            <a:rect l="l" t="t" r="r" b="b"/>
            <a:pathLst>
              <a:path w="441042" h="441042" extrusionOk="0">
                <a:moveTo>
                  <a:pt x="0" y="0"/>
                </a:moveTo>
                <a:lnTo>
                  <a:pt x="441042" y="0"/>
                </a:lnTo>
                <a:lnTo>
                  <a:pt x="441042" y="441042"/>
                </a:lnTo>
                <a:lnTo>
                  <a:pt x="0" y="441042"/>
                </a:lnTo>
                <a:lnTo>
                  <a:pt x="0" y="0"/>
                </a:lnTo>
                <a:close/>
              </a:path>
            </a:pathLst>
          </a:custGeom>
          <a:blipFill rotWithShape="1">
            <a:blip r:embed="rId4">
              <a:alphaModFix/>
            </a:blip>
            <a:stretch>
              <a:fillRect/>
            </a:stretch>
          </a:blipFill>
          <a:ln>
            <a:noFill/>
          </a:ln>
        </p:spPr>
      </p:sp>
      <p:sp>
        <p:nvSpPr>
          <p:cNvPr id="93" name="Google Shape;93;p10"/>
          <p:cNvSpPr txBox="1"/>
          <p:nvPr/>
        </p:nvSpPr>
        <p:spPr>
          <a:xfrm>
            <a:off x="13994297" y="563150"/>
            <a:ext cx="9015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SERVICE</a:t>
            </a:r>
            <a:endParaRPr/>
          </a:p>
        </p:txBody>
      </p:sp>
      <p:sp>
        <p:nvSpPr>
          <p:cNvPr id="94" name="Google Shape;94;p10"/>
          <p:cNvSpPr txBox="1"/>
          <p:nvPr/>
        </p:nvSpPr>
        <p:spPr>
          <a:xfrm>
            <a:off x="16357926"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CONTACT</a:t>
            </a:r>
            <a:endParaRPr/>
          </a:p>
        </p:txBody>
      </p:sp>
      <p:sp>
        <p:nvSpPr>
          <p:cNvPr id="95" name="Google Shape;95;p10"/>
          <p:cNvSpPr txBox="1"/>
          <p:nvPr/>
        </p:nvSpPr>
        <p:spPr>
          <a:xfrm>
            <a:off x="11713282" y="563150"/>
            <a:ext cx="10842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ABOUT</a:t>
            </a:r>
            <a:endParaRPr/>
          </a:p>
        </p:txBody>
      </p:sp>
      <p:sp>
        <p:nvSpPr>
          <p:cNvPr id="96" name="Google Shape;96;p10"/>
          <p:cNvSpPr txBox="1"/>
          <p:nvPr/>
        </p:nvSpPr>
        <p:spPr>
          <a:xfrm>
            <a:off x="9506628" y="563143"/>
            <a:ext cx="5838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HOME</a:t>
            </a:r>
            <a:endParaRPr/>
          </a:p>
        </p:txBody>
      </p:sp>
      <p:sp>
        <p:nvSpPr>
          <p:cNvPr id="97" name="Google Shape;97;p10"/>
          <p:cNvSpPr txBox="1"/>
          <p:nvPr/>
        </p:nvSpPr>
        <p:spPr>
          <a:xfrm>
            <a:off x="1879302" y="650400"/>
            <a:ext cx="7524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rgbClr val="1D2947"/>
                </a:solidFill>
                <a:latin typeface="Open Sans"/>
                <a:ea typeface="Open Sans"/>
                <a:cs typeface="Open Sans"/>
                <a:sym typeface="Open Sans"/>
              </a:rPr>
              <a:t>LOGO</a:t>
            </a:r>
            <a:endParaRPr/>
          </a:p>
        </p:txBody>
      </p:sp>
      <p:sp>
        <p:nvSpPr>
          <p:cNvPr id="98" name="Google Shape;98;p10"/>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95400" y="2103450"/>
            <a:ext cx="120753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1D2947"/>
              </a:buClr>
              <a:buSzPts val="7000"/>
              <a:buFont typeface="Russo One"/>
              <a:buNone/>
              <a:defRPr sz="7000" i="0" u="none" strike="noStrike" cap="none">
                <a:solidFill>
                  <a:srgbClr val="1D2947"/>
                </a:solidFill>
                <a:latin typeface="Russo One"/>
                <a:ea typeface="Russo One"/>
                <a:cs typeface="Russo One"/>
                <a:sym typeface="Russo On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029200" y="4399975"/>
            <a:ext cx="8229600" cy="45261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1pPr>
            <a:lvl2pPr marL="914400" marR="0" lvl="1" indent="-381000" algn="l" rtl="0">
              <a:spcBef>
                <a:spcPts val="56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2pPr>
            <a:lvl3pPr marL="1371600" marR="0" lvl="2" indent="-381000" algn="l" rtl="0">
              <a:spcBef>
                <a:spcPts val="48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3pPr>
            <a:lvl4pPr marL="1828800" marR="0" lvl="3"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4pPr>
            <a:lvl5pPr marL="2286000" marR="0" lvl="4"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5pPr>
            <a:lvl6pPr marL="2743200" marR="0" lvl="5"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6pPr>
            <a:lvl7pPr marL="3200400" marR="0" lvl="6"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7pPr>
            <a:lvl8pPr marL="3657600" marR="0" lvl="7"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8pPr>
            <a:lvl9pPr marL="4114800" marR="0" lvl="8" indent="-381000" algn="l" rtl="0">
              <a:spcBef>
                <a:spcPts val="400"/>
              </a:spcBef>
              <a:spcAft>
                <a:spcPts val="0"/>
              </a:spcAft>
              <a:buClr>
                <a:schemeClr val="dk1"/>
              </a:buClr>
              <a:buSzPts val="2400"/>
              <a:buFont typeface="Russo One"/>
              <a:buChar char="•"/>
              <a:defRPr sz="2400" i="0" u="none" strike="noStrike" cap="none">
                <a:solidFill>
                  <a:schemeClr val="dk1"/>
                </a:solidFill>
                <a:latin typeface="Russo One"/>
                <a:ea typeface="Russo One"/>
                <a:cs typeface="Russo One"/>
                <a:sym typeface="Russo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2" name="TextBox 1">
            <a:extLst>
              <a:ext uri="{FF2B5EF4-FFF2-40B4-BE49-F238E27FC236}">
                <a16:creationId xmlns:a16="http://schemas.microsoft.com/office/drawing/2014/main" id="{D408EE82-D046-4792-3562-8F2B4FFB53BC}"/>
              </a:ext>
            </a:extLst>
          </p:cNvPr>
          <p:cNvSpPr txBox="1"/>
          <p:nvPr/>
        </p:nvSpPr>
        <p:spPr>
          <a:xfrm>
            <a:off x="1060704" y="2835175"/>
            <a:ext cx="7516368" cy="3416320"/>
          </a:xfrm>
          <a:prstGeom prst="rect">
            <a:avLst/>
          </a:prstGeom>
          <a:solidFill>
            <a:schemeClr val="bg1"/>
          </a:solid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7200" b="1" dirty="0">
                <a:ln/>
                <a:solidFill>
                  <a:schemeClr val="accent6">
                    <a:lumMod val="50000"/>
                    <a:lumOff val="50000"/>
                  </a:schemeClr>
                </a:solidFill>
              </a:rPr>
              <a:t>Global Weather Trend Forecasting</a:t>
            </a:r>
            <a:endParaRPr lang="en-US" sz="7200" b="1" dirty="0">
              <a:ln/>
              <a:solidFill>
                <a:schemeClr val="accent6">
                  <a:lumMod val="50000"/>
                  <a:lumOff val="50000"/>
                </a:schemeClr>
              </a:solidFill>
            </a:endParaRPr>
          </a:p>
        </p:txBody>
      </p:sp>
      <p:pic>
        <p:nvPicPr>
          <p:cNvPr id="6" name="Picture 5" descr="A cloud with rain and lightning bolt&#10;&#10;AI-generated content may be incorrect.">
            <a:extLst>
              <a:ext uri="{FF2B5EF4-FFF2-40B4-BE49-F238E27FC236}">
                <a16:creationId xmlns:a16="http://schemas.microsoft.com/office/drawing/2014/main" id="{AC2E5B5C-9DA1-84AB-4738-4C6169A356E1}"/>
              </a:ext>
            </a:extLst>
          </p:cNvPr>
          <p:cNvPicPr>
            <a:picLocks noChangeAspect="1"/>
          </p:cNvPicPr>
          <p:nvPr/>
        </p:nvPicPr>
        <p:blipFill>
          <a:blip r:embed="rId3"/>
          <a:stretch>
            <a:fillRect/>
          </a:stretch>
        </p:blipFill>
        <p:spPr>
          <a:xfrm>
            <a:off x="10827511" y="2812900"/>
            <a:ext cx="6043091" cy="4630420"/>
          </a:xfrm>
          <a:prstGeom prst="rect">
            <a:avLst/>
          </a:prstGeom>
        </p:spPr>
      </p:pic>
      <p:sp>
        <p:nvSpPr>
          <p:cNvPr id="7" name="TextBox 6">
            <a:extLst>
              <a:ext uri="{FF2B5EF4-FFF2-40B4-BE49-F238E27FC236}">
                <a16:creationId xmlns:a16="http://schemas.microsoft.com/office/drawing/2014/main" id="{DCE16E6E-079D-C751-CFFF-A280FA07F40D}"/>
              </a:ext>
            </a:extLst>
          </p:cNvPr>
          <p:cNvSpPr txBox="1"/>
          <p:nvPr/>
        </p:nvSpPr>
        <p:spPr>
          <a:xfrm>
            <a:off x="1225296" y="6858545"/>
            <a:ext cx="5632704" cy="584775"/>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200" dirty="0">
                <a:ln/>
                <a:solidFill>
                  <a:schemeClr val="accent3"/>
                </a:solidFill>
              </a:rPr>
              <a:t>Lakshman Rajith </a:t>
            </a:r>
            <a:r>
              <a:rPr lang="en-IN" sz="3200" dirty="0" err="1">
                <a:ln/>
                <a:solidFill>
                  <a:schemeClr val="accent3"/>
                </a:solidFill>
              </a:rPr>
              <a:t>Rongala</a:t>
            </a:r>
            <a:endParaRPr lang="en-US" sz="3200" dirty="0">
              <a:ln/>
              <a:solidFill>
                <a:schemeClr val="accent3"/>
              </a:solidFill>
            </a:endParaRPr>
          </a:p>
        </p:txBody>
      </p:sp>
      <p:sp>
        <p:nvSpPr>
          <p:cNvPr id="8" name="TextBox 7">
            <a:extLst>
              <a:ext uri="{FF2B5EF4-FFF2-40B4-BE49-F238E27FC236}">
                <a16:creationId xmlns:a16="http://schemas.microsoft.com/office/drawing/2014/main" id="{DC4FFCBE-A847-F008-8DA0-DFDE16CCAB46}"/>
              </a:ext>
            </a:extLst>
          </p:cNvPr>
          <p:cNvSpPr txBox="1"/>
          <p:nvPr/>
        </p:nvSpPr>
        <p:spPr>
          <a:xfrm>
            <a:off x="1225296" y="7630187"/>
            <a:ext cx="5010912" cy="584775"/>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200" dirty="0">
                <a:ln/>
                <a:solidFill>
                  <a:schemeClr val="accent3"/>
                </a:solidFill>
              </a:rPr>
              <a:t>University of New Haven</a:t>
            </a:r>
            <a:endParaRPr lang="en-US" sz="3200" dirty="0">
              <a:ln/>
              <a:solidFill>
                <a:schemeClr val="accent3"/>
              </a:solidFill>
            </a:endParaRPr>
          </a:p>
        </p:txBody>
      </p:sp>
      <p:sp>
        <p:nvSpPr>
          <p:cNvPr id="11" name="TextBox 10">
            <a:extLst>
              <a:ext uri="{FF2B5EF4-FFF2-40B4-BE49-F238E27FC236}">
                <a16:creationId xmlns:a16="http://schemas.microsoft.com/office/drawing/2014/main" id="{5B1F628E-BEC0-DB74-C9EE-A109AB43A6F4}"/>
              </a:ext>
            </a:extLst>
          </p:cNvPr>
          <p:cNvSpPr txBox="1"/>
          <p:nvPr/>
        </p:nvSpPr>
        <p:spPr>
          <a:xfrm>
            <a:off x="1225296" y="8401829"/>
            <a:ext cx="4078224" cy="584775"/>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3200" dirty="0">
                <a:ln/>
                <a:solidFill>
                  <a:schemeClr val="accent3"/>
                </a:solidFill>
              </a:rPr>
              <a:t>February 2026</a:t>
            </a:r>
            <a:endParaRPr lang="en-US" sz="3200" dirty="0">
              <a:ln/>
              <a:solidFill>
                <a:schemeClr val="accent3"/>
              </a:solidFill>
            </a:endParaRPr>
          </a:p>
        </p:txBody>
      </p:sp>
      <p:sp>
        <p:nvSpPr>
          <p:cNvPr id="14" name="Rectangle 13">
            <a:extLst>
              <a:ext uri="{FF2B5EF4-FFF2-40B4-BE49-F238E27FC236}">
                <a16:creationId xmlns:a16="http://schemas.microsoft.com/office/drawing/2014/main" id="{42D78C31-2A18-43DC-9232-400FD3014A42}"/>
              </a:ext>
            </a:extLst>
          </p:cNvPr>
          <p:cNvSpPr/>
          <p:nvPr/>
        </p:nvSpPr>
        <p:spPr>
          <a:xfrm>
            <a:off x="3377036" y="512304"/>
            <a:ext cx="11533927" cy="923330"/>
          </a:xfrm>
          <a:prstGeom prst="rect">
            <a:avLst/>
          </a:prstGeom>
          <a:noFill/>
        </p:spPr>
        <p:txBody>
          <a:bodyPr wrap="none" lIns="91440" tIns="45720" rIns="91440" bIns="45720">
            <a:spAutoFit/>
          </a:bodyPr>
          <a:lstStyle/>
          <a:p>
            <a:pPr algn="ctr"/>
            <a:r>
              <a:rPr lang="en-IN" sz="5400" b="0" cap="none" spc="0" dirty="0">
                <a:ln w="0"/>
                <a:solidFill>
                  <a:schemeClr val="accent1"/>
                </a:solidFill>
                <a:effectLst>
                  <a:outerShdw blurRad="38100" dist="25400" dir="5400000" algn="ctr" rotWithShape="0">
                    <a:srgbClr val="6E747A">
                      <a:alpha val="43000"/>
                    </a:srgbClr>
                  </a:outerShdw>
                </a:effectLst>
              </a:rPr>
              <a:t>Data Science &amp; Forecasting Analysis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37ABC3D6-9D7B-5208-B81F-0445AA88CC8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E4F0FD4-901A-A2D5-DAC8-9D89849A5BF2}"/>
              </a:ext>
            </a:extLst>
          </p:cNvPr>
          <p:cNvSpPr/>
          <p:nvPr/>
        </p:nvSpPr>
        <p:spPr>
          <a:xfrm>
            <a:off x="702768" y="439019"/>
            <a:ext cx="7994497"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PM Accelerator Mission</a:t>
            </a:r>
            <a:endParaRPr lang="en-GB" sz="5400" b="1" dirty="0">
              <a:ln/>
              <a:solidFill>
                <a:schemeClr val="tx2">
                  <a:lumMod val="75000"/>
                </a:schemeClr>
              </a:solidFill>
            </a:endParaRPr>
          </a:p>
        </p:txBody>
      </p:sp>
      <p:sp>
        <p:nvSpPr>
          <p:cNvPr id="4" name="TextBox 3">
            <a:extLst>
              <a:ext uri="{FF2B5EF4-FFF2-40B4-BE49-F238E27FC236}">
                <a16:creationId xmlns:a16="http://schemas.microsoft.com/office/drawing/2014/main" id="{0AAFC4D5-26F6-7948-19A0-0C1BAAB7A3FE}"/>
              </a:ext>
            </a:extLst>
          </p:cNvPr>
          <p:cNvSpPr txBox="1"/>
          <p:nvPr/>
        </p:nvSpPr>
        <p:spPr>
          <a:xfrm>
            <a:off x="1436929" y="3218688"/>
            <a:ext cx="14520672" cy="4154984"/>
          </a:xfrm>
          <a:prstGeom prst="rect">
            <a:avLst/>
          </a:prstGeom>
          <a:noFill/>
        </p:spPr>
        <p:txBody>
          <a:bodyPr wrap="square" rtlCol="0">
            <a:spAutoFit/>
          </a:bodyPr>
          <a:lstStyle/>
          <a:p>
            <a:pPr algn="just"/>
            <a:r>
              <a:rPr lang="en-IN" sz="4400" dirty="0"/>
              <a:t>Our mission is to break down financial barriers and achieve educational fairness. With the goal of establishing 200 schools worldwide over the next 20 years, we aim to empower more kids for a better future in their life and career, simultaneously fostering a diverse landscape in the tech industry.</a:t>
            </a:r>
            <a:endParaRPr lang="en-US" sz="4400" dirty="0"/>
          </a:p>
        </p:txBody>
      </p:sp>
    </p:spTree>
    <p:extLst>
      <p:ext uri="{BB962C8B-B14F-4D97-AF65-F5344CB8AC3E}">
        <p14:creationId xmlns:p14="http://schemas.microsoft.com/office/powerpoint/2010/main" val="4148253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4CABBBC1-7A7F-24F8-C4F4-B0C72BACBA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B4AFE8-D686-F89D-DD90-3C5E8F6527B2}"/>
              </a:ext>
            </a:extLst>
          </p:cNvPr>
          <p:cNvSpPr/>
          <p:nvPr/>
        </p:nvSpPr>
        <p:spPr>
          <a:xfrm>
            <a:off x="647076" y="384155"/>
            <a:ext cx="5801588"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Project Overview</a:t>
            </a:r>
            <a:endParaRPr lang="en-GB" sz="5400" b="1" dirty="0">
              <a:ln/>
              <a:solidFill>
                <a:schemeClr val="tx2">
                  <a:lumMod val="75000"/>
                </a:schemeClr>
              </a:solidFill>
            </a:endParaRPr>
          </a:p>
        </p:txBody>
      </p:sp>
      <p:sp>
        <p:nvSpPr>
          <p:cNvPr id="5" name="TextBox 4">
            <a:extLst>
              <a:ext uri="{FF2B5EF4-FFF2-40B4-BE49-F238E27FC236}">
                <a16:creationId xmlns:a16="http://schemas.microsoft.com/office/drawing/2014/main" id="{B7D1153A-6B47-FF18-297A-37286950AAC4}"/>
              </a:ext>
            </a:extLst>
          </p:cNvPr>
          <p:cNvSpPr txBox="1"/>
          <p:nvPr/>
        </p:nvSpPr>
        <p:spPr>
          <a:xfrm>
            <a:off x="1291448" y="2514386"/>
            <a:ext cx="6071616" cy="707886"/>
          </a:xfrm>
          <a:prstGeom prst="rect">
            <a:avLst/>
          </a:prstGeom>
          <a:noFill/>
        </p:spPr>
        <p:txBody>
          <a:bodyPr wrap="square" rtlCol="0">
            <a:spAutoFit/>
          </a:bodyPr>
          <a:lstStyle/>
          <a:p>
            <a:r>
              <a:rPr lang="en-IN" sz="4000" b="1" dirty="0"/>
              <a:t>Objective</a:t>
            </a:r>
            <a:endParaRPr lang="en-US" sz="4000" b="1" dirty="0"/>
          </a:p>
        </p:txBody>
      </p:sp>
      <p:sp>
        <p:nvSpPr>
          <p:cNvPr id="6" name="TextBox 5">
            <a:extLst>
              <a:ext uri="{FF2B5EF4-FFF2-40B4-BE49-F238E27FC236}">
                <a16:creationId xmlns:a16="http://schemas.microsoft.com/office/drawing/2014/main" id="{825C49C3-F7EC-AA5B-00DC-EA83FBB18213}"/>
              </a:ext>
            </a:extLst>
          </p:cNvPr>
          <p:cNvSpPr txBox="1"/>
          <p:nvPr/>
        </p:nvSpPr>
        <p:spPr>
          <a:xfrm>
            <a:off x="1291448" y="5797296"/>
            <a:ext cx="6656832" cy="707886"/>
          </a:xfrm>
          <a:prstGeom prst="rect">
            <a:avLst/>
          </a:prstGeom>
          <a:noFill/>
        </p:spPr>
        <p:txBody>
          <a:bodyPr wrap="square" rtlCol="0">
            <a:spAutoFit/>
          </a:bodyPr>
          <a:lstStyle/>
          <a:p>
            <a:r>
              <a:rPr lang="en-IN" sz="4000" b="1" dirty="0"/>
              <a:t>Dataset</a:t>
            </a:r>
            <a:endParaRPr lang="en-US" sz="4000" b="1" dirty="0"/>
          </a:p>
        </p:txBody>
      </p:sp>
      <p:sp>
        <p:nvSpPr>
          <p:cNvPr id="13" name="TextBox 12">
            <a:extLst>
              <a:ext uri="{FF2B5EF4-FFF2-40B4-BE49-F238E27FC236}">
                <a16:creationId xmlns:a16="http://schemas.microsoft.com/office/drawing/2014/main" id="{03A4B70A-441B-4239-0E82-08B95B277D46}"/>
              </a:ext>
            </a:extLst>
          </p:cNvPr>
          <p:cNvSpPr txBox="1"/>
          <p:nvPr/>
        </p:nvSpPr>
        <p:spPr>
          <a:xfrm>
            <a:off x="1291448" y="3516923"/>
            <a:ext cx="10339754" cy="1569660"/>
          </a:xfrm>
          <a:prstGeom prst="rect">
            <a:avLst/>
          </a:prstGeom>
          <a:noFill/>
        </p:spPr>
        <p:txBody>
          <a:bodyPr wrap="square" rtlCol="0">
            <a:spAutoFit/>
          </a:bodyPr>
          <a:lstStyle/>
          <a:p>
            <a:pPr marL="285750" indent="-285750">
              <a:buFont typeface="Arial" panose="020B0604020202020204" pitchFamily="34" charset="0"/>
              <a:buChar char="•"/>
            </a:pPr>
            <a:r>
              <a:rPr lang="en-IN" sz="3200" dirty="0" err="1"/>
              <a:t>Analyze</a:t>
            </a:r>
            <a:r>
              <a:rPr lang="en-IN" sz="3200" dirty="0"/>
              <a:t> global weather trends</a:t>
            </a:r>
          </a:p>
          <a:p>
            <a:pPr marL="285750" indent="-285750">
              <a:buFont typeface="Arial" panose="020B0604020202020204" pitchFamily="34" charset="0"/>
              <a:buChar char="•"/>
            </a:pPr>
            <a:r>
              <a:rPr lang="en-IN" sz="3200" dirty="0"/>
              <a:t>Forecast temperature patterns</a:t>
            </a:r>
          </a:p>
          <a:p>
            <a:pPr marL="285750" indent="-285750">
              <a:buFont typeface="Arial" panose="020B0604020202020204" pitchFamily="34" charset="0"/>
              <a:buChar char="•"/>
            </a:pPr>
            <a:r>
              <a:rPr lang="en-IN" sz="3200" dirty="0"/>
              <a:t>Identify environmental relationships</a:t>
            </a:r>
            <a:endParaRPr lang="en-US" sz="3200" dirty="0"/>
          </a:p>
        </p:txBody>
      </p:sp>
      <p:sp>
        <p:nvSpPr>
          <p:cNvPr id="15" name="TextBox 14">
            <a:extLst>
              <a:ext uri="{FF2B5EF4-FFF2-40B4-BE49-F238E27FC236}">
                <a16:creationId xmlns:a16="http://schemas.microsoft.com/office/drawing/2014/main" id="{EE742393-E7D4-DA8A-1C9A-44BCE4A1ED06}"/>
              </a:ext>
            </a:extLst>
          </p:cNvPr>
          <p:cNvSpPr txBox="1"/>
          <p:nvPr/>
        </p:nvSpPr>
        <p:spPr>
          <a:xfrm>
            <a:off x="1291448" y="6987784"/>
            <a:ext cx="6119446" cy="1569660"/>
          </a:xfrm>
          <a:prstGeom prst="rect">
            <a:avLst/>
          </a:prstGeom>
          <a:noFill/>
        </p:spPr>
        <p:txBody>
          <a:bodyPr wrap="square" rtlCol="0">
            <a:spAutoFit/>
          </a:bodyPr>
          <a:lstStyle/>
          <a:p>
            <a:pPr marL="457200" indent="-457200">
              <a:buFont typeface="Arial" panose="020B0604020202020204" pitchFamily="34" charset="0"/>
              <a:buChar char="•"/>
            </a:pPr>
            <a:r>
              <a:rPr lang="en-IN" sz="3200" dirty="0"/>
              <a:t>Global Weather Repository</a:t>
            </a:r>
          </a:p>
          <a:p>
            <a:pPr marL="457200" indent="-457200">
              <a:buFont typeface="Arial" panose="020B0604020202020204" pitchFamily="34" charset="0"/>
              <a:buChar char="•"/>
            </a:pPr>
            <a:r>
              <a:rPr lang="en-IN" sz="3200" dirty="0"/>
              <a:t>124,000+ records</a:t>
            </a:r>
          </a:p>
          <a:p>
            <a:pPr marL="457200" indent="-457200">
              <a:buFont typeface="Arial" panose="020B0604020202020204" pitchFamily="34" charset="0"/>
              <a:buChar char="•"/>
            </a:pPr>
            <a:r>
              <a:rPr lang="en-IN" sz="3200" dirty="0"/>
              <a:t>40+ features</a:t>
            </a:r>
            <a:endParaRPr lang="en-US" sz="3200" dirty="0"/>
          </a:p>
        </p:txBody>
      </p:sp>
    </p:spTree>
    <p:extLst>
      <p:ext uri="{BB962C8B-B14F-4D97-AF65-F5344CB8AC3E}">
        <p14:creationId xmlns:p14="http://schemas.microsoft.com/office/powerpoint/2010/main" val="230095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2060C016-5EE1-D8E3-20EB-131590154C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7BDC7CE-1CB0-09BA-08BF-B509A5CDDE1D}"/>
              </a:ext>
            </a:extLst>
          </p:cNvPr>
          <p:cNvSpPr/>
          <p:nvPr/>
        </p:nvSpPr>
        <p:spPr>
          <a:xfrm>
            <a:off x="566375" y="298342"/>
            <a:ext cx="9533379"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Data Cleaning &amp; Preparation</a:t>
            </a:r>
            <a:endParaRPr lang="en-GB" sz="5400" b="1" dirty="0">
              <a:ln/>
              <a:solidFill>
                <a:schemeClr val="tx2">
                  <a:lumMod val="75000"/>
                </a:schemeClr>
              </a:solidFill>
            </a:endParaRPr>
          </a:p>
        </p:txBody>
      </p:sp>
      <p:sp>
        <p:nvSpPr>
          <p:cNvPr id="4" name="TextBox 3">
            <a:extLst>
              <a:ext uri="{FF2B5EF4-FFF2-40B4-BE49-F238E27FC236}">
                <a16:creationId xmlns:a16="http://schemas.microsoft.com/office/drawing/2014/main" id="{7B91FD5A-4928-E320-66A9-EDD4CDE51F10}"/>
              </a:ext>
            </a:extLst>
          </p:cNvPr>
          <p:cNvSpPr txBox="1"/>
          <p:nvPr/>
        </p:nvSpPr>
        <p:spPr>
          <a:xfrm>
            <a:off x="566375" y="2796658"/>
            <a:ext cx="14520672" cy="3477875"/>
          </a:xfrm>
          <a:prstGeom prst="rect">
            <a:avLst/>
          </a:prstGeom>
          <a:noFill/>
        </p:spPr>
        <p:txBody>
          <a:bodyPr wrap="square" rtlCol="0">
            <a:spAutoFit/>
          </a:bodyPr>
          <a:lstStyle/>
          <a:p>
            <a:pPr marL="571500" indent="-571500" algn="just">
              <a:buFont typeface="Arial" panose="020B0604020202020204" pitchFamily="34" charset="0"/>
              <a:buChar char="•"/>
            </a:pPr>
            <a:r>
              <a:rPr lang="en-IN" sz="4400" dirty="0"/>
              <a:t>Converted timestamps to datetime format</a:t>
            </a:r>
          </a:p>
          <a:p>
            <a:pPr marL="571500" indent="-571500" algn="just">
              <a:buFont typeface="Arial" panose="020B0604020202020204" pitchFamily="34" charset="0"/>
              <a:buChar char="•"/>
            </a:pPr>
            <a:r>
              <a:rPr lang="en-IN" sz="4400" dirty="0"/>
              <a:t>Removed duplicate records</a:t>
            </a:r>
          </a:p>
          <a:p>
            <a:pPr marL="571500" indent="-571500" algn="just">
              <a:buFont typeface="Arial" panose="020B0604020202020204" pitchFamily="34" charset="0"/>
              <a:buChar char="•"/>
            </a:pPr>
            <a:r>
              <a:rPr lang="en-IN" sz="4400" dirty="0"/>
              <a:t>Verified missing values &amp; data consistency</a:t>
            </a:r>
          </a:p>
          <a:p>
            <a:pPr marL="571500" indent="-571500" algn="just">
              <a:buFont typeface="Arial" panose="020B0604020202020204" pitchFamily="34" charset="0"/>
              <a:buChar char="•"/>
            </a:pPr>
            <a:r>
              <a:rPr lang="en-IN" sz="4400" dirty="0"/>
              <a:t>Resampled data to daily frequency for forecasting</a:t>
            </a:r>
          </a:p>
          <a:p>
            <a:pPr marL="571500" indent="-571500" algn="just">
              <a:buFont typeface="Arial" panose="020B0604020202020204" pitchFamily="34" charset="0"/>
              <a:buChar char="•"/>
            </a:pPr>
            <a:r>
              <a:rPr lang="en-IN" sz="4400" dirty="0"/>
              <a:t>Filtered unrealistic temperature values</a:t>
            </a:r>
            <a:endParaRPr lang="en-US" sz="4400" dirty="0"/>
          </a:p>
        </p:txBody>
      </p:sp>
      <p:sp>
        <p:nvSpPr>
          <p:cNvPr id="2" name="TextBox 1">
            <a:extLst>
              <a:ext uri="{FF2B5EF4-FFF2-40B4-BE49-F238E27FC236}">
                <a16:creationId xmlns:a16="http://schemas.microsoft.com/office/drawing/2014/main" id="{CAF72996-258C-9FF3-5B00-B854300A7978}"/>
              </a:ext>
            </a:extLst>
          </p:cNvPr>
          <p:cNvSpPr txBox="1"/>
          <p:nvPr/>
        </p:nvSpPr>
        <p:spPr>
          <a:xfrm>
            <a:off x="566375" y="9161584"/>
            <a:ext cx="10796954" cy="584775"/>
          </a:xfrm>
          <a:prstGeom prst="rect">
            <a:avLst/>
          </a:prstGeom>
          <a:noFill/>
        </p:spPr>
        <p:txBody>
          <a:bodyPr wrap="square" rtlCol="0">
            <a:spAutoFit/>
          </a:bodyPr>
          <a:lstStyle/>
          <a:p>
            <a:r>
              <a:rPr lang="en-IN" sz="3200" dirty="0">
                <a:solidFill>
                  <a:schemeClr val="accent1">
                    <a:lumMod val="50000"/>
                    <a:lumOff val="50000"/>
                  </a:schemeClr>
                </a:solidFill>
              </a:rPr>
              <a:t>Dataset required minimal cleaning due to high data quality</a:t>
            </a:r>
            <a:endParaRPr lang="en-US" sz="3200" dirty="0">
              <a:solidFill>
                <a:schemeClr val="accent1">
                  <a:lumMod val="50000"/>
                  <a:lumOff val="50000"/>
                </a:schemeClr>
              </a:solidFill>
            </a:endParaRPr>
          </a:p>
        </p:txBody>
      </p:sp>
    </p:spTree>
    <p:extLst>
      <p:ext uri="{BB962C8B-B14F-4D97-AF65-F5344CB8AC3E}">
        <p14:creationId xmlns:p14="http://schemas.microsoft.com/office/powerpoint/2010/main" val="21743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BE837538-3D73-EDB9-D339-0AD468F053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4AC1AB3-5A9D-21D2-95A1-A2A14A4AA368}"/>
              </a:ext>
            </a:extLst>
          </p:cNvPr>
          <p:cNvSpPr/>
          <p:nvPr/>
        </p:nvSpPr>
        <p:spPr>
          <a:xfrm>
            <a:off x="616985" y="333511"/>
            <a:ext cx="8763938"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Exploratory Data Analysis</a:t>
            </a:r>
            <a:endParaRPr lang="en-GB" sz="5400" b="1" dirty="0">
              <a:ln/>
              <a:solidFill>
                <a:schemeClr val="tx2">
                  <a:lumMod val="75000"/>
                </a:schemeClr>
              </a:solidFill>
            </a:endParaRPr>
          </a:p>
        </p:txBody>
      </p:sp>
      <p:sp>
        <p:nvSpPr>
          <p:cNvPr id="5" name="TextBox 4">
            <a:extLst>
              <a:ext uri="{FF2B5EF4-FFF2-40B4-BE49-F238E27FC236}">
                <a16:creationId xmlns:a16="http://schemas.microsoft.com/office/drawing/2014/main" id="{4BB7FDA5-B6A5-2E08-8B99-35C004765924}"/>
              </a:ext>
            </a:extLst>
          </p:cNvPr>
          <p:cNvSpPr txBox="1"/>
          <p:nvPr/>
        </p:nvSpPr>
        <p:spPr>
          <a:xfrm>
            <a:off x="3108608" y="2497013"/>
            <a:ext cx="3780692" cy="523220"/>
          </a:xfrm>
          <a:prstGeom prst="rect">
            <a:avLst/>
          </a:prstGeom>
          <a:noFill/>
        </p:spPr>
        <p:txBody>
          <a:bodyPr wrap="square" rtlCol="0">
            <a:spAutoFit/>
          </a:bodyPr>
          <a:lstStyle/>
          <a:p>
            <a:r>
              <a:rPr lang="en-IN" sz="2800" b="1" dirty="0"/>
              <a:t>Temperature trend</a:t>
            </a:r>
            <a:endParaRPr lang="en-US" sz="2800" b="1" dirty="0"/>
          </a:p>
        </p:txBody>
      </p:sp>
      <p:sp>
        <p:nvSpPr>
          <p:cNvPr id="6" name="TextBox 5">
            <a:extLst>
              <a:ext uri="{FF2B5EF4-FFF2-40B4-BE49-F238E27FC236}">
                <a16:creationId xmlns:a16="http://schemas.microsoft.com/office/drawing/2014/main" id="{D968A3EA-9E71-D57A-8534-379728C6DC5F}"/>
              </a:ext>
            </a:extLst>
          </p:cNvPr>
          <p:cNvSpPr txBox="1"/>
          <p:nvPr/>
        </p:nvSpPr>
        <p:spPr>
          <a:xfrm>
            <a:off x="12696092" y="2461847"/>
            <a:ext cx="3780692" cy="523220"/>
          </a:xfrm>
          <a:prstGeom prst="rect">
            <a:avLst/>
          </a:prstGeom>
          <a:noFill/>
        </p:spPr>
        <p:txBody>
          <a:bodyPr wrap="square" rtlCol="0">
            <a:spAutoFit/>
          </a:bodyPr>
          <a:lstStyle/>
          <a:p>
            <a:r>
              <a:rPr lang="en-IN" sz="2800" b="1" dirty="0"/>
              <a:t>Precipitation trend</a:t>
            </a:r>
            <a:endParaRPr lang="en-US" sz="2800" b="1" dirty="0"/>
          </a:p>
        </p:txBody>
      </p:sp>
      <p:pic>
        <p:nvPicPr>
          <p:cNvPr id="12" name="Picture 11" descr="A blue graph showing the temperature&#10;&#10;AI-generated content may be incorrect.">
            <a:extLst>
              <a:ext uri="{FF2B5EF4-FFF2-40B4-BE49-F238E27FC236}">
                <a16:creationId xmlns:a16="http://schemas.microsoft.com/office/drawing/2014/main" id="{E1159F8E-286A-5F2F-C541-4DFEF0DC0D15}"/>
              </a:ext>
            </a:extLst>
          </p:cNvPr>
          <p:cNvPicPr>
            <a:picLocks noChangeAspect="1"/>
          </p:cNvPicPr>
          <p:nvPr/>
        </p:nvPicPr>
        <p:blipFill>
          <a:blip r:embed="rId3"/>
          <a:stretch>
            <a:fillRect/>
          </a:stretch>
        </p:blipFill>
        <p:spPr>
          <a:xfrm>
            <a:off x="195872" y="3574073"/>
            <a:ext cx="8948128" cy="4251080"/>
          </a:xfrm>
          <a:prstGeom prst="rect">
            <a:avLst/>
          </a:prstGeom>
        </p:spPr>
      </p:pic>
      <p:pic>
        <p:nvPicPr>
          <p:cNvPr id="14" name="Picture 13" descr="A graph showing a number of blue lines&#10;&#10;AI-generated content may be incorrect.">
            <a:extLst>
              <a:ext uri="{FF2B5EF4-FFF2-40B4-BE49-F238E27FC236}">
                <a16:creationId xmlns:a16="http://schemas.microsoft.com/office/drawing/2014/main" id="{8EA7EE26-342F-4933-1C5A-42F69E854169}"/>
              </a:ext>
            </a:extLst>
          </p:cNvPr>
          <p:cNvPicPr>
            <a:picLocks noChangeAspect="1"/>
          </p:cNvPicPr>
          <p:nvPr/>
        </p:nvPicPr>
        <p:blipFill>
          <a:blip r:embed="rId4"/>
          <a:stretch>
            <a:fillRect/>
          </a:stretch>
        </p:blipFill>
        <p:spPr>
          <a:xfrm>
            <a:off x="9979474" y="3574073"/>
            <a:ext cx="8112654" cy="4391758"/>
          </a:xfrm>
          <a:prstGeom prst="rect">
            <a:avLst/>
          </a:prstGeom>
        </p:spPr>
      </p:pic>
      <p:sp>
        <p:nvSpPr>
          <p:cNvPr id="15" name="TextBox 14">
            <a:extLst>
              <a:ext uri="{FF2B5EF4-FFF2-40B4-BE49-F238E27FC236}">
                <a16:creationId xmlns:a16="http://schemas.microsoft.com/office/drawing/2014/main" id="{988E36F7-330E-9F9B-412F-3CAC6261A522}"/>
              </a:ext>
            </a:extLst>
          </p:cNvPr>
          <p:cNvSpPr txBox="1"/>
          <p:nvPr/>
        </p:nvSpPr>
        <p:spPr>
          <a:xfrm>
            <a:off x="840954" y="8178938"/>
            <a:ext cx="8316000" cy="400110"/>
          </a:xfrm>
          <a:prstGeom prst="rect">
            <a:avLst/>
          </a:prstGeom>
          <a:noFill/>
        </p:spPr>
        <p:txBody>
          <a:bodyPr wrap="square" rtlCol="0">
            <a:spAutoFit/>
          </a:bodyPr>
          <a:lstStyle/>
          <a:p>
            <a:r>
              <a:rPr lang="en-IN" sz="2000" dirty="0"/>
              <a:t> Global temperatures show clear seasonal variation over time.</a:t>
            </a:r>
            <a:endParaRPr lang="en-US" sz="2000" dirty="0"/>
          </a:p>
        </p:txBody>
      </p:sp>
      <p:sp>
        <p:nvSpPr>
          <p:cNvPr id="16" name="TextBox 15">
            <a:extLst>
              <a:ext uri="{FF2B5EF4-FFF2-40B4-BE49-F238E27FC236}">
                <a16:creationId xmlns:a16="http://schemas.microsoft.com/office/drawing/2014/main" id="{C46811E3-67AC-318B-AB42-53B7E7C68894}"/>
              </a:ext>
            </a:extLst>
          </p:cNvPr>
          <p:cNvSpPr txBox="1"/>
          <p:nvPr/>
        </p:nvSpPr>
        <p:spPr>
          <a:xfrm>
            <a:off x="10460405" y="8178938"/>
            <a:ext cx="7631723" cy="400110"/>
          </a:xfrm>
          <a:prstGeom prst="rect">
            <a:avLst/>
          </a:prstGeom>
          <a:noFill/>
        </p:spPr>
        <p:txBody>
          <a:bodyPr wrap="square" rtlCol="0">
            <a:spAutoFit/>
          </a:bodyPr>
          <a:lstStyle/>
          <a:p>
            <a:r>
              <a:rPr lang="en-IN" sz="2000" dirty="0"/>
              <a:t> Precipitation levels vary significantly across time and regions.</a:t>
            </a:r>
            <a:endParaRPr lang="en-US" sz="2000" dirty="0"/>
          </a:p>
        </p:txBody>
      </p:sp>
    </p:spTree>
    <p:extLst>
      <p:ext uri="{BB962C8B-B14F-4D97-AF65-F5344CB8AC3E}">
        <p14:creationId xmlns:p14="http://schemas.microsoft.com/office/powerpoint/2010/main" val="2327062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56A9FECC-4EB1-C145-F23D-A795CBAD81A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884D70-0BD8-5FCF-05F0-3813E1234442}"/>
              </a:ext>
            </a:extLst>
          </p:cNvPr>
          <p:cNvSpPr/>
          <p:nvPr/>
        </p:nvSpPr>
        <p:spPr>
          <a:xfrm>
            <a:off x="616985" y="333511"/>
            <a:ext cx="8763938"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Exploratory Data Analysis</a:t>
            </a:r>
            <a:endParaRPr lang="en-GB" sz="5400" b="1" dirty="0">
              <a:ln/>
              <a:solidFill>
                <a:schemeClr val="tx2">
                  <a:lumMod val="75000"/>
                </a:schemeClr>
              </a:solidFill>
            </a:endParaRPr>
          </a:p>
        </p:txBody>
      </p:sp>
      <p:sp>
        <p:nvSpPr>
          <p:cNvPr id="6" name="TextBox 5">
            <a:extLst>
              <a:ext uri="{FF2B5EF4-FFF2-40B4-BE49-F238E27FC236}">
                <a16:creationId xmlns:a16="http://schemas.microsoft.com/office/drawing/2014/main" id="{677F11DA-E173-136D-AFDE-512E3A1DEA4C}"/>
              </a:ext>
            </a:extLst>
          </p:cNvPr>
          <p:cNvSpPr txBox="1"/>
          <p:nvPr/>
        </p:nvSpPr>
        <p:spPr>
          <a:xfrm>
            <a:off x="6494613" y="2005952"/>
            <a:ext cx="5772620" cy="523220"/>
          </a:xfrm>
          <a:prstGeom prst="rect">
            <a:avLst/>
          </a:prstGeom>
          <a:noFill/>
        </p:spPr>
        <p:txBody>
          <a:bodyPr wrap="square" rtlCol="0">
            <a:spAutoFit/>
          </a:bodyPr>
          <a:lstStyle/>
          <a:p>
            <a:r>
              <a:rPr lang="en-IN" sz="2800" b="1" dirty="0"/>
              <a:t>Monthly Seasonal Pattern Chart</a:t>
            </a:r>
            <a:endParaRPr lang="en-US" sz="2800" b="1" dirty="0"/>
          </a:p>
        </p:txBody>
      </p:sp>
      <p:sp>
        <p:nvSpPr>
          <p:cNvPr id="15" name="TextBox 14">
            <a:extLst>
              <a:ext uri="{FF2B5EF4-FFF2-40B4-BE49-F238E27FC236}">
                <a16:creationId xmlns:a16="http://schemas.microsoft.com/office/drawing/2014/main" id="{ABA63EDD-3CCF-8424-6786-B9618EFBF567}"/>
              </a:ext>
            </a:extLst>
          </p:cNvPr>
          <p:cNvSpPr txBox="1"/>
          <p:nvPr/>
        </p:nvSpPr>
        <p:spPr>
          <a:xfrm>
            <a:off x="4263946" y="9294716"/>
            <a:ext cx="10233954" cy="400110"/>
          </a:xfrm>
          <a:prstGeom prst="rect">
            <a:avLst/>
          </a:prstGeom>
          <a:noFill/>
        </p:spPr>
        <p:txBody>
          <a:bodyPr wrap="square" rtlCol="0">
            <a:spAutoFit/>
          </a:bodyPr>
          <a:lstStyle/>
          <a:p>
            <a:r>
              <a:rPr lang="en-IN" sz="2000" dirty="0"/>
              <a:t>Temperatures peak mid-year and decline toward year end, indicating strong seasonality.</a:t>
            </a:r>
            <a:endParaRPr lang="en-US" sz="2000" dirty="0"/>
          </a:p>
        </p:txBody>
      </p:sp>
      <p:pic>
        <p:nvPicPr>
          <p:cNvPr id="4" name="Picture 3" descr="A graph of a temperature&#10;&#10;AI-generated content may be incorrect.">
            <a:extLst>
              <a:ext uri="{FF2B5EF4-FFF2-40B4-BE49-F238E27FC236}">
                <a16:creationId xmlns:a16="http://schemas.microsoft.com/office/drawing/2014/main" id="{812ABB22-62BA-1B66-0929-3A111398F0CD}"/>
              </a:ext>
            </a:extLst>
          </p:cNvPr>
          <p:cNvPicPr>
            <a:picLocks noChangeAspect="1"/>
          </p:cNvPicPr>
          <p:nvPr/>
        </p:nvPicPr>
        <p:blipFill>
          <a:blip r:embed="rId3"/>
          <a:stretch>
            <a:fillRect/>
          </a:stretch>
        </p:blipFill>
        <p:spPr>
          <a:xfrm>
            <a:off x="3314700" y="2994319"/>
            <a:ext cx="11658600" cy="5835250"/>
          </a:xfrm>
          <a:prstGeom prst="rect">
            <a:avLst/>
          </a:prstGeom>
        </p:spPr>
      </p:pic>
    </p:spTree>
    <p:extLst>
      <p:ext uri="{BB962C8B-B14F-4D97-AF65-F5344CB8AC3E}">
        <p14:creationId xmlns:p14="http://schemas.microsoft.com/office/powerpoint/2010/main" val="277364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63C699C9-D78C-ED1E-23F2-5FAEC9DB734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8E10B31-2E89-0FD0-6928-5B56A450A42E}"/>
              </a:ext>
            </a:extLst>
          </p:cNvPr>
          <p:cNvSpPr/>
          <p:nvPr/>
        </p:nvSpPr>
        <p:spPr>
          <a:xfrm>
            <a:off x="383157" y="315926"/>
            <a:ext cx="12572674"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Geographic &amp; Environmental Insights</a:t>
            </a:r>
            <a:endParaRPr lang="en-GB" sz="5400" b="1" dirty="0">
              <a:ln/>
              <a:solidFill>
                <a:schemeClr val="tx2">
                  <a:lumMod val="75000"/>
                </a:schemeClr>
              </a:solidFill>
            </a:endParaRPr>
          </a:p>
        </p:txBody>
      </p:sp>
      <p:pic>
        <p:nvPicPr>
          <p:cNvPr id="5" name="Picture 4" descr="A map of the world with different colored dots&#10;&#10;AI-generated content may be incorrect.">
            <a:extLst>
              <a:ext uri="{FF2B5EF4-FFF2-40B4-BE49-F238E27FC236}">
                <a16:creationId xmlns:a16="http://schemas.microsoft.com/office/drawing/2014/main" id="{9576E990-41CE-C27C-6338-04A10B73D8FA}"/>
              </a:ext>
            </a:extLst>
          </p:cNvPr>
          <p:cNvPicPr>
            <a:picLocks noChangeAspect="1"/>
          </p:cNvPicPr>
          <p:nvPr/>
        </p:nvPicPr>
        <p:blipFill>
          <a:blip r:embed="rId3"/>
          <a:stretch>
            <a:fillRect/>
          </a:stretch>
        </p:blipFill>
        <p:spPr>
          <a:xfrm>
            <a:off x="1213339" y="3156438"/>
            <a:ext cx="7930661" cy="3974123"/>
          </a:xfrm>
          <a:prstGeom prst="rect">
            <a:avLst/>
          </a:prstGeom>
        </p:spPr>
      </p:pic>
      <p:pic>
        <p:nvPicPr>
          <p:cNvPr id="7" name="Picture 6" descr="A screen shot of a graph&#10;&#10;AI-generated content may be incorrect.">
            <a:extLst>
              <a:ext uri="{FF2B5EF4-FFF2-40B4-BE49-F238E27FC236}">
                <a16:creationId xmlns:a16="http://schemas.microsoft.com/office/drawing/2014/main" id="{A5CE96B8-B03F-A52F-CDF9-AA596F73AC06}"/>
              </a:ext>
            </a:extLst>
          </p:cNvPr>
          <p:cNvPicPr>
            <a:picLocks noChangeAspect="1"/>
          </p:cNvPicPr>
          <p:nvPr/>
        </p:nvPicPr>
        <p:blipFill>
          <a:blip r:embed="rId4"/>
          <a:stretch>
            <a:fillRect/>
          </a:stretch>
        </p:blipFill>
        <p:spPr>
          <a:xfrm>
            <a:off x="10709031" y="2338754"/>
            <a:ext cx="6858000" cy="5996354"/>
          </a:xfrm>
          <a:prstGeom prst="rect">
            <a:avLst/>
          </a:prstGeom>
        </p:spPr>
      </p:pic>
      <p:sp>
        <p:nvSpPr>
          <p:cNvPr id="8" name="TextBox 7">
            <a:extLst>
              <a:ext uri="{FF2B5EF4-FFF2-40B4-BE49-F238E27FC236}">
                <a16:creationId xmlns:a16="http://schemas.microsoft.com/office/drawing/2014/main" id="{0DCD4468-972E-2E27-B630-03A3C4ED626A}"/>
              </a:ext>
            </a:extLst>
          </p:cNvPr>
          <p:cNvSpPr txBox="1"/>
          <p:nvPr/>
        </p:nvSpPr>
        <p:spPr>
          <a:xfrm>
            <a:off x="2620106" y="1670538"/>
            <a:ext cx="4273062" cy="461665"/>
          </a:xfrm>
          <a:prstGeom prst="rect">
            <a:avLst/>
          </a:prstGeom>
          <a:noFill/>
        </p:spPr>
        <p:txBody>
          <a:bodyPr wrap="square" rtlCol="0">
            <a:spAutoFit/>
          </a:bodyPr>
          <a:lstStyle/>
          <a:p>
            <a:r>
              <a:rPr lang="en-IN" sz="2400" b="1" dirty="0"/>
              <a:t>1) World Temperature Map</a:t>
            </a:r>
            <a:endParaRPr lang="en-US" sz="2400" b="1" dirty="0"/>
          </a:p>
        </p:txBody>
      </p:sp>
      <p:sp>
        <p:nvSpPr>
          <p:cNvPr id="11" name="TextBox 10">
            <a:extLst>
              <a:ext uri="{FF2B5EF4-FFF2-40B4-BE49-F238E27FC236}">
                <a16:creationId xmlns:a16="http://schemas.microsoft.com/office/drawing/2014/main" id="{B408546D-F063-6B2D-77FA-91573964C081}"/>
              </a:ext>
            </a:extLst>
          </p:cNvPr>
          <p:cNvSpPr txBox="1"/>
          <p:nvPr/>
        </p:nvSpPr>
        <p:spPr>
          <a:xfrm>
            <a:off x="11711726" y="1558172"/>
            <a:ext cx="5211683" cy="461665"/>
          </a:xfrm>
          <a:prstGeom prst="rect">
            <a:avLst/>
          </a:prstGeom>
          <a:noFill/>
        </p:spPr>
        <p:txBody>
          <a:bodyPr wrap="none" rtlCol="0">
            <a:spAutoFit/>
          </a:bodyPr>
          <a:lstStyle/>
          <a:p>
            <a:r>
              <a:rPr lang="en-IN" sz="2400" b="1" dirty="0"/>
              <a:t>2) Air Quality Correlation Heatmap</a:t>
            </a:r>
            <a:endParaRPr lang="en-US" sz="2400" b="1" dirty="0"/>
          </a:p>
        </p:txBody>
      </p:sp>
      <p:sp>
        <p:nvSpPr>
          <p:cNvPr id="12" name="TextBox 11">
            <a:extLst>
              <a:ext uri="{FF2B5EF4-FFF2-40B4-BE49-F238E27FC236}">
                <a16:creationId xmlns:a16="http://schemas.microsoft.com/office/drawing/2014/main" id="{9382AC62-0AB8-8D68-2396-E0FC0FA46036}"/>
              </a:ext>
            </a:extLst>
          </p:cNvPr>
          <p:cNvSpPr txBox="1"/>
          <p:nvPr/>
        </p:nvSpPr>
        <p:spPr>
          <a:xfrm>
            <a:off x="923192" y="8154796"/>
            <a:ext cx="8510953" cy="677108"/>
          </a:xfrm>
          <a:prstGeom prst="rect">
            <a:avLst/>
          </a:prstGeom>
          <a:noFill/>
        </p:spPr>
        <p:txBody>
          <a:bodyPr wrap="square" rtlCol="0">
            <a:spAutoFit/>
          </a:bodyPr>
          <a:lstStyle/>
          <a:p>
            <a:r>
              <a:rPr lang="en-IN" sz="2400" dirty="0"/>
              <a:t>Temperature distribution follows geographic latitude patterns.</a:t>
            </a:r>
          </a:p>
          <a:p>
            <a:endParaRPr lang="en-US" dirty="0"/>
          </a:p>
        </p:txBody>
      </p:sp>
      <p:sp>
        <p:nvSpPr>
          <p:cNvPr id="13" name="TextBox 12">
            <a:extLst>
              <a:ext uri="{FF2B5EF4-FFF2-40B4-BE49-F238E27FC236}">
                <a16:creationId xmlns:a16="http://schemas.microsoft.com/office/drawing/2014/main" id="{C74C1B19-125D-541E-C891-F4006966D8B1}"/>
              </a:ext>
            </a:extLst>
          </p:cNvPr>
          <p:cNvSpPr txBox="1"/>
          <p:nvPr/>
        </p:nvSpPr>
        <p:spPr>
          <a:xfrm>
            <a:off x="11131062" y="8686800"/>
            <a:ext cx="6066692" cy="1200329"/>
          </a:xfrm>
          <a:prstGeom prst="rect">
            <a:avLst/>
          </a:prstGeom>
          <a:noFill/>
        </p:spPr>
        <p:txBody>
          <a:bodyPr wrap="square" rtlCol="0">
            <a:spAutoFit/>
          </a:bodyPr>
          <a:lstStyle/>
          <a:p>
            <a:pPr algn="ctr"/>
            <a:r>
              <a:rPr lang="en-IN" sz="2400" dirty="0"/>
              <a:t>Air quality indicators show relationships with humidity, wind speed, and atmospheric conditions.</a:t>
            </a:r>
            <a:endParaRPr lang="en-US" sz="2400" dirty="0"/>
          </a:p>
        </p:txBody>
      </p:sp>
    </p:spTree>
    <p:extLst>
      <p:ext uri="{BB962C8B-B14F-4D97-AF65-F5344CB8AC3E}">
        <p14:creationId xmlns:p14="http://schemas.microsoft.com/office/powerpoint/2010/main" val="188118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E96E5A27-DD63-A348-B42B-15CFBBDFD3D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52AE02F-05C8-D14F-1BD1-DA4AE411C26B}"/>
              </a:ext>
            </a:extLst>
          </p:cNvPr>
          <p:cNvSpPr/>
          <p:nvPr/>
        </p:nvSpPr>
        <p:spPr>
          <a:xfrm>
            <a:off x="751238" y="298342"/>
            <a:ext cx="6455613"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Anomaly Detection</a:t>
            </a:r>
            <a:endParaRPr lang="en-GB" sz="5400" b="1" dirty="0">
              <a:ln/>
              <a:solidFill>
                <a:schemeClr val="tx2">
                  <a:lumMod val="75000"/>
                </a:schemeClr>
              </a:solidFill>
            </a:endParaRPr>
          </a:p>
        </p:txBody>
      </p:sp>
      <p:sp>
        <p:nvSpPr>
          <p:cNvPr id="2" name="TextBox 1">
            <a:extLst>
              <a:ext uri="{FF2B5EF4-FFF2-40B4-BE49-F238E27FC236}">
                <a16:creationId xmlns:a16="http://schemas.microsoft.com/office/drawing/2014/main" id="{6E3D80DC-9C63-EF21-F8A1-20F19366DCAE}"/>
              </a:ext>
            </a:extLst>
          </p:cNvPr>
          <p:cNvSpPr txBox="1"/>
          <p:nvPr/>
        </p:nvSpPr>
        <p:spPr>
          <a:xfrm>
            <a:off x="751238" y="2409092"/>
            <a:ext cx="15532116" cy="3693319"/>
          </a:xfrm>
          <a:prstGeom prst="rect">
            <a:avLst/>
          </a:prstGeom>
          <a:noFill/>
        </p:spPr>
        <p:txBody>
          <a:bodyPr wrap="square" rtlCol="0">
            <a:spAutoFit/>
          </a:bodyPr>
          <a:lstStyle/>
          <a:p>
            <a:pPr marL="285750" indent="-285750">
              <a:buFont typeface="Arial" panose="020B0604020202020204" pitchFamily="34" charset="0"/>
              <a:buChar char="•"/>
            </a:pPr>
            <a:r>
              <a:rPr lang="en-IN" sz="4400" dirty="0" err="1"/>
              <a:t>dentified</a:t>
            </a:r>
            <a:r>
              <a:rPr lang="en-IN" sz="4400" dirty="0"/>
              <a:t> unusual temperature spikes using statistical anomaly detection</a:t>
            </a:r>
          </a:p>
          <a:p>
            <a:pPr marL="285750" indent="-285750">
              <a:buFont typeface="Arial" panose="020B0604020202020204" pitchFamily="34" charset="0"/>
              <a:buChar char="•"/>
            </a:pPr>
            <a:r>
              <a:rPr lang="en-IN" sz="4400" dirty="0"/>
              <a:t>Extreme deviations from normal patterns were detected</a:t>
            </a:r>
          </a:p>
          <a:p>
            <a:pPr marL="285750" indent="-285750">
              <a:buFont typeface="Arial" panose="020B0604020202020204" pitchFamily="34" charset="0"/>
              <a:buChar char="•"/>
            </a:pPr>
            <a:r>
              <a:rPr lang="en-IN" sz="4400" dirty="0"/>
              <a:t>Anomaly detection helps monitor unusual climate </a:t>
            </a:r>
            <a:r>
              <a:rPr lang="en-IN" sz="4400" dirty="0" err="1"/>
              <a:t>behavior</a:t>
            </a:r>
            <a:endParaRPr lang="en-IN" sz="4400" dirty="0"/>
          </a:p>
          <a:p>
            <a:pPr marL="285750" indent="-285750">
              <a:buFont typeface="Arial" panose="020B0604020202020204" pitchFamily="34" charset="0"/>
              <a:buChar char="•"/>
            </a:pPr>
            <a:r>
              <a:rPr lang="en-IN" sz="4400" dirty="0"/>
              <a:t>Useful for early detection of extreme weather events</a:t>
            </a:r>
          </a:p>
          <a:p>
            <a:endParaRPr lang="en-US" dirty="0"/>
          </a:p>
        </p:txBody>
      </p:sp>
    </p:spTree>
    <p:extLst>
      <p:ext uri="{BB962C8B-B14F-4D97-AF65-F5344CB8AC3E}">
        <p14:creationId xmlns:p14="http://schemas.microsoft.com/office/powerpoint/2010/main" val="1949396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B7FBDFBF-F8CB-807F-4771-80EE0B5705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85033E7-BBA5-5FD8-B35A-856AD2C34900}"/>
              </a:ext>
            </a:extLst>
          </p:cNvPr>
          <p:cNvSpPr/>
          <p:nvPr/>
        </p:nvSpPr>
        <p:spPr>
          <a:xfrm>
            <a:off x="618237" y="403850"/>
            <a:ext cx="6686447"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Forecasting Models</a:t>
            </a:r>
            <a:endParaRPr lang="en-GB" sz="5400" b="1" dirty="0">
              <a:ln/>
              <a:solidFill>
                <a:schemeClr val="tx2">
                  <a:lumMod val="75000"/>
                </a:schemeClr>
              </a:solidFill>
            </a:endParaRPr>
          </a:p>
        </p:txBody>
      </p:sp>
      <p:sp>
        <p:nvSpPr>
          <p:cNvPr id="5" name="TextBox 4">
            <a:extLst>
              <a:ext uri="{FF2B5EF4-FFF2-40B4-BE49-F238E27FC236}">
                <a16:creationId xmlns:a16="http://schemas.microsoft.com/office/drawing/2014/main" id="{9F8D545B-C5DB-E144-7CA5-F85BE26595E2}"/>
              </a:ext>
            </a:extLst>
          </p:cNvPr>
          <p:cNvSpPr txBox="1"/>
          <p:nvPr/>
        </p:nvSpPr>
        <p:spPr>
          <a:xfrm>
            <a:off x="879231" y="2074985"/>
            <a:ext cx="15105184" cy="1077218"/>
          </a:xfrm>
          <a:prstGeom prst="rect">
            <a:avLst/>
          </a:prstGeom>
          <a:noFill/>
        </p:spPr>
        <p:txBody>
          <a:bodyPr wrap="square" rtlCol="0">
            <a:spAutoFit/>
          </a:bodyPr>
          <a:lstStyle/>
          <a:p>
            <a:r>
              <a:rPr lang="en-IN" sz="3200" b="1" dirty="0"/>
              <a:t>Baseline Model</a:t>
            </a:r>
            <a:br>
              <a:rPr lang="en-IN" sz="3200" dirty="0"/>
            </a:br>
            <a:r>
              <a:rPr lang="en-IN" sz="3200" dirty="0"/>
              <a:t>→ Predicts future temperature using the most recent observed value</a:t>
            </a:r>
            <a:endParaRPr lang="en-US" sz="3200" dirty="0"/>
          </a:p>
        </p:txBody>
      </p:sp>
      <p:sp>
        <p:nvSpPr>
          <p:cNvPr id="6" name="TextBox 5">
            <a:extLst>
              <a:ext uri="{FF2B5EF4-FFF2-40B4-BE49-F238E27FC236}">
                <a16:creationId xmlns:a16="http://schemas.microsoft.com/office/drawing/2014/main" id="{5EBC9804-DE0F-C6BD-B30C-735DD1D49D1F}"/>
              </a:ext>
            </a:extLst>
          </p:cNvPr>
          <p:cNvSpPr txBox="1"/>
          <p:nvPr/>
        </p:nvSpPr>
        <p:spPr>
          <a:xfrm>
            <a:off x="879231" y="3900008"/>
            <a:ext cx="12590585" cy="1077218"/>
          </a:xfrm>
          <a:prstGeom prst="rect">
            <a:avLst/>
          </a:prstGeom>
          <a:noFill/>
        </p:spPr>
        <p:txBody>
          <a:bodyPr wrap="square" rtlCol="0">
            <a:spAutoFit/>
          </a:bodyPr>
          <a:lstStyle/>
          <a:p>
            <a:r>
              <a:rPr lang="en-IN" sz="3200" b="1" dirty="0"/>
              <a:t>ETS Model (Exponential Smoothing)</a:t>
            </a:r>
            <a:br>
              <a:rPr lang="en-IN" sz="3200" dirty="0"/>
            </a:br>
            <a:r>
              <a:rPr lang="en-IN" sz="3200" dirty="0"/>
              <a:t>→ Captures underlying trend patterns in time-series data</a:t>
            </a:r>
            <a:endParaRPr lang="en-US" sz="3200" dirty="0"/>
          </a:p>
        </p:txBody>
      </p:sp>
      <p:sp>
        <p:nvSpPr>
          <p:cNvPr id="7" name="TextBox 6">
            <a:extLst>
              <a:ext uri="{FF2B5EF4-FFF2-40B4-BE49-F238E27FC236}">
                <a16:creationId xmlns:a16="http://schemas.microsoft.com/office/drawing/2014/main" id="{20E3248E-0CCF-4415-61B6-BDB63646375D}"/>
              </a:ext>
            </a:extLst>
          </p:cNvPr>
          <p:cNvSpPr txBox="1"/>
          <p:nvPr/>
        </p:nvSpPr>
        <p:spPr>
          <a:xfrm>
            <a:off x="879231" y="5725031"/>
            <a:ext cx="12221307" cy="1077218"/>
          </a:xfrm>
          <a:prstGeom prst="rect">
            <a:avLst/>
          </a:prstGeom>
          <a:noFill/>
        </p:spPr>
        <p:txBody>
          <a:bodyPr wrap="square" rtlCol="0">
            <a:spAutoFit/>
          </a:bodyPr>
          <a:lstStyle/>
          <a:p>
            <a:r>
              <a:rPr lang="en-IN" sz="3200" b="1" dirty="0"/>
              <a:t>Random Forest Model</a:t>
            </a:r>
            <a:br>
              <a:rPr lang="en-IN" sz="3200" dirty="0"/>
            </a:br>
            <a:r>
              <a:rPr lang="en-IN" sz="3200" dirty="0"/>
              <a:t>→ Uses past temperatures and seasonal features to learn patterns</a:t>
            </a:r>
            <a:endParaRPr lang="en-US" sz="3200" dirty="0"/>
          </a:p>
        </p:txBody>
      </p:sp>
      <p:sp>
        <p:nvSpPr>
          <p:cNvPr id="8" name="TextBox 7">
            <a:extLst>
              <a:ext uri="{FF2B5EF4-FFF2-40B4-BE49-F238E27FC236}">
                <a16:creationId xmlns:a16="http://schemas.microsoft.com/office/drawing/2014/main" id="{871E46E5-ADE7-1531-F8F2-E3458D01CE7E}"/>
              </a:ext>
            </a:extLst>
          </p:cNvPr>
          <p:cNvSpPr txBox="1"/>
          <p:nvPr/>
        </p:nvSpPr>
        <p:spPr>
          <a:xfrm>
            <a:off x="879231" y="7550054"/>
            <a:ext cx="14296292" cy="1077218"/>
          </a:xfrm>
          <a:prstGeom prst="rect">
            <a:avLst/>
          </a:prstGeom>
          <a:noFill/>
        </p:spPr>
        <p:txBody>
          <a:bodyPr wrap="square" rtlCol="0">
            <a:spAutoFit/>
          </a:bodyPr>
          <a:lstStyle/>
          <a:p>
            <a:r>
              <a:rPr lang="en-IN" sz="3200" b="1" dirty="0"/>
              <a:t>Ensemble Model</a:t>
            </a:r>
            <a:br>
              <a:rPr lang="en-IN" sz="3200" dirty="0"/>
            </a:br>
            <a:r>
              <a:rPr lang="en-IN" sz="3200" dirty="0"/>
              <a:t>→ Combines statistical and machine learning forecasts to improve accuracy</a:t>
            </a:r>
            <a:endParaRPr lang="en-US" sz="3200" dirty="0"/>
          </a:p>
        </p:txBody>
      </p:sp>
    </p:spTree>
    <p:extLst>
      <p:ext uri="{BB962C8B-B14F-4D97-AF65-F5344CB8AC3E}">
        <p14:creationId xmlns:p14="http://schemas.microsoft.com/office/powerpoint/2010/main" val="1169338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564138CF-AD89-A179-56C8-8DEA5F527A0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7680C9C-495C-8A51-5633-E9D261A52E0D}"/>
              </a:ext>
            </a:extLst>
          </p:cNvPr>
          <p:cNvSpPr/>
          <p:nvPr/>
        </p:nvSpPr>
        <p:spPr>
          <a:xfrm>
            <a:off x="755185" y="329291"/>
            <a:ext cx="6609503"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Model Performance</a:t>
            </a:r>
            <a:endParaRPr lang="en-GB" sz="5400" b="1" dirty="0">
              <a:ln/>
              <a:solidFill>
                <a:schemeClr val="tx2">
                  <a:lumMod val="75000"/>
                </a:schemeClr>
              </a:solidFill>
            </a:endParaRPr>
          </a:p>
        </p:txBody>
      </p:sp>
      <p:graphicFrame>
        <p:nvGraphicFramePr>
          <p:cNvPr id="5" name="Table 4">
            <a:extLst>
              <a:ext uri="{FF2B5EF4-FFF2-40B4-BE49-F238E27FC236}">
                <a16:creationId xmlns:a16="http://schemas.microsoft.com/office/drawing/2014/main" id="{7890F0AE-9E04-FF2A-A59E-1A4776E957CA}"/>
              </a:ext>
            </a:extLst>
          </p:cNvPr>
          <p:cNvGraphicFramePr>
            <a:graphicFrameLocks noGrp="1"/>
          </p:cNvGraphicFramePr>
          <p:nvPr>
            <p:extLst>
              <p:ext uri="{D42A27DB-BD31-4B8C-83A1-F6EECF244321}">
                <p14:modId xmlns:p14="http://schemas.microsoft.com/office/powerpoint/2010/main" val="3093246942"/>
              </p:ext>
            </p:extLst>
          </p:nvPr>
        </p:nvGraphicFramePr>
        <p:xfrm>
          <a:off x="2876374" y="3310128"/>
          <a:ext cx="12192938" cy="41331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05965709"/>
                    </a:ext>
                  </a:extLst>
                </a:gridCol>
                <a:gridCol w="6096938">
                  <a:extLst>
                    <a:ext uri="{9D8B030D-6E8A-4147-A177-3AD203B41FA5}">
                      <a16:colId xmlns:a16="http://schemas.microsoft.com/office/drawing/2014/main" val="1746727475"/>
                    </a:ext>
                  </a:extLst>
                </a:gridCol>
              </a:tblGrid>
              <a:tr h="740870">
                <a:tc>
                  <a:txBody>
                    <a:bodyPr/>
                    <a:lstStyle/>
                    <a:p>
                      <a:pPr algn="ctr"/>
                      <a:r>
                        <a:rPr lang="en-US" sz="4400" dirty="0"/>
                        <a:t>Model</a:t>
                      </a:r>
                    </a:p>
                  </a:txBody>
                  <a:tcPr/>
                </a:tc>
                <a:tc>
                  <a:txBody>
                    <a:bodyPr/>
                    <a:lstStyle/>
                    <a:p>
                      <a:pPr algn="ctr"/>
                      <a:r>
                        <a:rPr lang="en-IN" sz="4400" dirty="0"/>
                        <a:t>MAE</a:t>
                      </a:r>
                      <a:endParaRPr lang="en-US" sz="4400" dirty="0"/>
                    </a:p>
                  </a:txBody>
                  <a:tcPr/>
                </a:tc>
                <a:extLst>
                  <a:ext uri="{0D108BD9-81ED-4DB2-BD59-A6C34878D82A}">
                    <a16:rowId xmlns:a16="http://schemas.microsoft.com/office/drawing/2014/main" val="2070314816"/>
                  </a:ext>
                </a:extLst>
              </a:tr>
              <a:tr h="1123706">
                <a:tc>
                  <a:txBody>
                    <a:bodyPr/>
                    <a:lstStyle/>
                    <a:p>
                      <a:pPr algn="ctr"/>
                      <a:r>
                        <a:rPr lang="en-IN" sz="4000" dirty="0"/>
                        <a:t>Baseline</a:t>
                      </a:r>
                      <a:endParaRPr lang="en-US" sz="4000" dirty="0"/>
                    </a:p>
                  </a:txBody>
                  <a:tcPr/>
                </a:tc>
                <a:tc>
                  <a:txBody>
                    <a:bodyPr/>
                    <a:lstStyle/>
                    <a:p>
                      <a:pPr algn="ctr"/>
                      <a:r>
                        <a:rPr lang="en-IN" sz="4000" dirty="0"/>
                        <a:t>4.99</a:t>
                      </a:r>
                      <a:endParaRPr lang="en-US" sz="4000" dirty="0"/>
                    </a:p>
                  </a:txBody>
                  <a:tcPr/>
                </a:tc>
                <a:extLst>
                  <a:ext uri="{0D108BD9-81ED-4DB2-BD59-A6C34878D82A}">
                    <a16:rowId xmlns:a16="http://schemas.microsoft.com/office/drawing/2014/main" val="3877173986"/>
                  </a:ext>
                </a:extLst>
              </a:tr>
              <a:tr h="1123706">
                <a:tc>
                  <a:txBody>
                    <a:bodyPr/>
                    <a:lstStyle/>
                    <a:p>
                      <a:pPr algn="ctr"/>
                      <a:r>
                        <a:rPr lang="en-IN" sz="4000" dirty="0"/>
                        <a:t>ETS</a:t>
                      </a:r>
                      <a:endParaRPr lang="en-US" sz="4000" dirty="0"/>
                    </a:p>
                  </a:txBody>
                  <a:tcPr/>
                </a:tc>
                <a:tc>
                  <a:txBody>
                    <a:bodyPr/>
                    <a:lstStyle/>
                    <a:p>
                      <a:pPr algn="ctr"/>
                      <a:r>
                        <a:rPr lang="en-IN" sz="4000" dirty="0"/>
                        <a:t>3.12</a:t>
                      </a:r>
                      <a:endParaRPr lang="en-US" sz="4000" dirty="0"/>
                    </a:p>
                  </a:txBody>
                  <a:tcPr/>
                </a:tc>
                <a:extLst>
                  <a:ext uri="{0D108BD9-81ED-4DB2-BD59-A6C34878D82A}">
                    <a16:rowId xmlns:a16="http://schemas.microsoft.com/office/drawing/2014/main" val="4085892139"/>
                  </a:ext>
                </a:extLst>
              </a:tr>
              <a:tr h="1123706">
                <a:tc>
                  <a:txBody>
                    <a:bodyPr/>
                    <a:lstStyle/>
                    <a:p>
                      <a:pPr algn="ctr"/>
                      <a:r>
                        <a:rPr lang="en-IN" sz="4000" dirty="0"/>
                        <a:t>Ensemble</a:t>
                      </a:r>
                      <a:endParaRPr lang="en-US" sz="4000" dirty="0"/>
                    </a:p>
                  </a:txBody>
                  <a:tcPr/>
                </a:tc>
                <a:tc>
                  <a:txBody>
                    <a:bodyPr/>
                    <a:lstStyle/>
                    <a:p>
                      <a:pPr algn="ctr"/>
                      <a:r>
                        <a:rPr lang="en-IN" sz="4000" dirty="0"/>
                        <a:t>2.46</a:t>
                      </a:r>
                      <a:endParaRPr lang="en-US" sz="4000" dirty="0"/>
                    </a:p>
                  </a:txBody>
                  <a:tcPr/>
                </a:tc>
                <a:extLst>
                  <a:ext uri="{0D108BD9-81ED-4DB2-BD59-A6C34878D82A}">
                    <a16:rowId xmlns:a16="http://schemas.microsoft.com/office/drawing/2014/main" val="283907985"/>
                  </a:ext>
                </a:extLst>
              </a:tr>
            </a:tbl>
          </a:graphicData>
        </a:graphic>
      </p:graphicFrame>
    </p:spTree>
    <p:extLst>
      <p:ext uri="{BB962C8B-B14F-4D97-AF65-F5344CB8AC3E}">
        <p14:creationId xmlns:p14="http://schemas.microsoft.com/office/powerpoint/2010/main" val="4256525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1303A5A2-3800-CA32-908E-5A538A6C86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97F5A5D-9F1C-12CF-ECF2-4597DC144105}"/>
              </a:ext>
            </a:extLst>
          </p:cNvPr>
          <p:cNvSpPr/>
          <p:nvPr/>
        </p:nvSpPr>
        <p:spPr>
          <a:xfrm>
            <a:off x="645457" y="449598"/>
            <a:ext cx="6609503"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Model Performance</a:t>
            </a:r>
            <a:endParaRPr lang="en-GB" sz="5400" b="1" dirty="0">
              <a:ln/>
              <a:solidFill>
                <a:schemeClr val="tx2">
                  <a:lumMod val="75000"/>
                </a:schemeClr>
              </a:solidFill>
            </a:endParaRPr>
          </a:p>
        </p:txBody>
      </p:sp>
      <p:pic>
        <p:nvPicPr>
          <p:cNvPr id="5" name="Picture 4" descr="A graph showing a graph of a graph&#10;&#10;AI-generated content may be incorrect.">
            <a:extLst>
              <a:ext uri="{FF2B5EF4-FFF2-40B4-BE49-F238E27FC236}">
                <a16:creationId xmlns:a16="http://schemas.microsoft.com/office/drawing/2014/main" id="{0842BD11-1675-4214-25E5-ECB959009A33}"/>
              </a:ext>
            </a:extLst>
          </p:cNvPr>
          <p:cNvPicPr>
            <a:picLocks noChangeAspect="1"/>
          </p:cNvPicPr>
          <p:nvPr/>
        </p:nvPicPr>
        <p:blipFill>
          <a:blip r:embed="rId3"/>
          <a:stretch>
            <a:fillRect/>
          </a:stretch>
        </p:blipFill>
        <p:spPr>
          <a:xfrm>
            <a:off x="2778370" y="2690446"/>
            <a:ext cx="12256476" cy="5978769"/>
          </a:xfrm>
          <a:prstGeom prst="rect">
            <a:avLst/>
          </a:prstGeom>
        </p:spPr>
      </p:pic>
      <p:sp>
        <p:nvSpPr>
          <p:cNvPr id="6" name="TextBox 5">
            <a:extLst>
              <a:ext uri="{FF2B5EF4-FFF2-40B4-BE49-F238E27FC236}">
                <a16:creationId xmlns:a16="http://schemas.microsoft.com/office/drawing/2014/main" id="{E696249C-7A78-B5D8-150B-5E374B8F0A5B}"/>
              </a:ext>
            </a:extLst>
          </p:cNvPr>
          <p:cNvSpPr txBox="1"/>
          <p:nvPr/>
        </p:nvSpPr>
        <p:spPr>
          <a:xfrm>
            <a:off x="5890846" y="1830725"/>
            <a:ext cx="6506307" cy="584775"/>
          </a:xfrm>
          <a:prstGeom prst="rect">
            <a:avLst/>
          </a:prstGeom>
          <a:noFill/>
        </p:spPr>
        <p:txBody>
          <a:bodyPr wrap="square" rtlCol="0">
            <a:spAutoFit/>
          </a:bodyPr>
          <a:lstStyle/>
          <a:p>
            <a:r>
              <a:rPr lang="en-IN" sz="3200" b="1" dirty="0"/>
              <a:t>Model Performance Comparison</a:t>
            </a:r>
            <a:endParaRPr lang="en-US" sz="3200" b="1" dirty="0"/>
          </a:p>
        </p:txBody>
      </p:sp>
      <p:sp>
        <p:nvSpPr>
          <p:cNvPr id="7" name="TextBox 6">
            <a:extLst>
              <a:ext uri="{FF2B5EF4-FFF2-40B4-BE49-F238E27FC236}">
                <a16:creationId xmlns:a16="http://schemas.microsoft.com/office/drawing/2014/main" id="{829B4EED-DB7F-4597-F278-9F809988560E}"/>
              </a:ext>
            </a:extLst>
          </p:cNvPr>
          <p:cNvSpPr txBox="1"/>
          <p:nvPr/>
        </p:nvSpPr>
        <p:spPr>
          <a:xfrm>
            <a:off x="2532185" y="9108831"/>
            <a:ext cx="12748846" cy="1046440"/>
          </a:xfrm>
          <a:prstGeom prst="rect">
            <a:avLst/>
          </a:prstGeom>
          <a:noFill/>
        </p:spPr>
        <p:txBody>
          <a:bodyPr wrap="square" rtlCol="0">
            <a:spAutoFit/>
          </a:bodyPr>
          <a:lstStyle/>
          <a:p>
            <a:pPr algn="ctr"/>
            <a:r>
              <a:rPr lang="en-IN" sz="2400" dirty="0"/>
              <a:t>Ensemble forecasting most closely follows the actual temperature trend, providing the highest prediction accuracy.</a:t>
            </a:r>
          </a:p>
          <a:p>
            <a:endParaRPr lang="en-US" dirty="0"/>
          </a:p>
        </p:txBody>
      </p:sp>
    </p:spTree>
    <p:extLst>
      <p:ext uri="{BB962C8B-B14F-4D97-AF65-F5344CB8AC3E}">
        <p14:creationId xmlns:p14="http://schemas.microsoft.com/office/powerpoint/2010/main" val="500651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8F30AD0D-CCC2-5C2A-C487-A18D2678B93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76AB51C-3A6A-CE2B-63C0-B814C5A906B8}"/>
              </a:ext>
            </a:extLst>
          </p:cNvPr>
          <p:cNvSpPr/>
          <p:nvPr/>
        </p:nvSpPr>
        <p:spPr>
          <a:xfrm>
            <a:off x="612397" y="403850"/>
            <a:ext cx="3954930" cy="923330"/>
          </a:xfrm>
          <a:prstGeom prst="rect">
            <a:avLst/>
          </a:prstGeom>
          <a:solidFill>
            <a:schemeClr val="bg1"/>
          </a:solidFill>
          <a:ln>
            <a:solidFill>
              <a:schemeClr val="accent5"/>
            </a:solidFill>
          </a:ln>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5400" b="1" dirty="0">
                <a:ln/>
                <a:solidFill>
                  <a:schemeClr val="tx2">
                    <a:lumMod val="75000"/>
                  </a:schemeClr>
                </a:solidFill>
              </a:rPr>
              <a:t>Conclusion</a:t>
            </a:r>
            <a:endParaRPr lang="en-GB" sz="5400" b="1" dirty="0">
              <a:ln/>
              <a:solidFill>
                <a:schemeClr val="tx2">
                  <a:lumMod val="75000"/>
                </a:schemeClr>
              </a:solidFill>
            </a:endParaRPr>
          </a:p>
        </p:txBody>
      </p:sp>
      <p:sp>
        <p:nvSpPr>
          <p:cNvPr id="2" name="TextBox 1">
            <a:extLst>
              <a:ext uri="{FF2B5EF4-FFF2-40B4-BE49-F238E27FC236}">
                <a16:creationId xmlns:a16="http://schemas.microsoft.com/office/drawing/2014/main" id="{4D71449E-62BB-DFFE-2CA1-F11834A5EEB8}"/>
              </a:ext>
            </a:extLst>
          </p:cNvPr>
          <p:cNvSpPr txBox="1"/>
          <p:nvPr/>
        </p:nvSpPr>
        <p:spPr>
          <a:xfrm>
            <a:off x="1899138" y="1951892"/>
            <a:ext cx="13170877" cy="2246769"/>
          </a:xfrm>
          <a:prstGeom prst="rect">
            <a:avLst/>
          </a:prstGeom>
          <a:noFill/>
        </p:spPr>
        <p:txBody>
          <a:bodyPr wrap="square" rtlCol="0">
            <a:spAutoFit/>
          </a:bodyPr>
          <a:lstStyle/>
          <a:p>
            <a:pPr algn="just"/>
            <a:r>
              <a:rPr lang="en-IN" sz="2800" dirty="0"/>
              <a:t>This project </a:t>
            </a:r>
            <a:r>
              <a:rPr lang="en-IN" sz="2800" dirty="0" err="1"/>
              <a:t>analyzed</a:t>
            </a:r>
            <a:r>
              <a:rPr lang="en-IN" sz="2800" dirty="0"/>
              <a:t> a global weather dataset to understand climate patterns and build accurate temperature forecasting models. After cleaning and preparing the data, exploratory analysis revealed strong seasonal trends, geographic temperature variations, and meaningful relationships between weather and air quality variables</a:t>
            </a:r>
            <a:r>
              <a:rPr lang="en-IN" dirty="0"/>
              <a:t>.</a:t>
            </a:r>
            <a:endParaRPr lang="en-US" dirty="0"/>
          </a:p>
        </p:txBody>
      </p:sp>
      <p:sp>
        <p:nvSpPr>
          <p:cNvPr id="5" name="TextBox 4">
            <a:extLst>
              <a:ext uri="{FF2B5EF4-FFF2-40B4-BE49-F238E27FC236}">
                <a16:creationId xmlns:a16="http://schemas.microsoft.com/office/drawing/2014/main" id="{A4591147-9365-B4BF-A503-8C76D8579A37}"/>
              </a:ext>
            </a:extLst>
          </p:cNvPr>
          <p:cNvSpPr txBox="1"/>
          <p:nvPr/>
        </p:nvSpPr>
        <p:spPr>
          <a:xfrm>
            <a:off x="1899137" y="4466739"/>
            <a:ext cx="13170877" cy="2677656"/>
          </a:xfrm>
          <a:prstGeom prst="rect">
            <a:avLst/>
          </a:prstGeom>
          <a:noFill/>
        </p:spPr>
        <p:txBody>
          <a:bodyPr wrap="square" rtlCol="0">
            <a:spAutoFit/>
          </a:bodyPr>
          <a:lstStyle/>
          <a:p>
            <a:pPr algn="just"/>
            <a:r>
              <a:rPr lang="en-IN" sz="2800" dirty="0"/>
              <a:t>Time-series forecasting techniques were applied to predict future temperatures. While the baseline model provided a simple reference, the Exponential Smoothing (ETS) model significantly improved prediction accuracy by capturing trend patterns. A machine learning model further enhanced performance, and combining models using an ensemble approach produced the most accurate forecasts.</a:t>
            </a:r>
            <a:endParaRPr lang="en-US" sz="2800" dirty="0"/>
          </a:p>
        </p:txBody>
      </p:sp>
      <p:sp>
        <p:nvSpPr>
          <p:cNvPr id="6" name="TextBox 5">
            <a:extLst>
              <a:ext uri="{FF2B5EF4-FFF2-40B4-BE49-F238E27FC236}">
                <a16:creationId xmlns:a16="http://schemas.microsoft.com/office/drawing/2014/main" id="{2E881F7F-4C01-4FB0-467E-D596A2555C42}"/>
              </a:ext>
            </a:extLst>
          </p:cNvPr>
          <p:cNvSpPr txBox="1"/>
          <p:nvPr/>
        </p:nvSpPr>
        <p:spPr>
          <a:xfrm>
            <a:off x="1899137" y="7561275"/>
            <a:ext cx="13170876" cy="2031325"/>
          </a:xfrm>
          <a:prstGeom prst="rect">
            <a:avLst/>
          </a:prstGeom>
          <a:noFill/>
        </p:spPr>
        <p:txBody>
          <a:bodyPr wrap="square" rtlCol="0">
            <a:spAutoFit/>
          </a:bodyPr>
          <a:lstStyle/>
          <a:p>
            <a:pPr algn="just"/>
            <a:r>
              <a:rPr lang="en-IN" sz="2800" dirty="0"/>
              <a:t>Overall, the analysis demonstrates that integrating statistical methods with machine learning improves forecasting reliability. The insights gained from this study can support climate monitoring, environmental analysis, and data-driven weather prediction systems.</a:t>
            </a:r>
          </a:p>
          <a:p>
            <a:endParaRPr lang="en-US" dirty="0"/>
          </a:p>
        </p:txBody>
      </p:sp>
    </p:spTree>
    <p:extLst>
      <p:ext uri="{BB962C8B-B14F-4D97-AF65-F5344CB8AC3E}">
        <p14:creationId xmlns:p14="http://schemas.microsoft.com/office/powerpoint/2010/main" val="3661226417"/>
      </p:ext>
    </p:extLst>
  </p:cSld>
  <p:clrMapOvr>
    <a:masterClrMapping/>
  </p:clrMapOvr>
</p:sld>
</file>

<file path=ppt/theme/theme1.xml><?xml version="1.0" encoding="utf-8"?>
<a:theme xmlns:a="http://schemas.openxmlformats.org/drawingml/2006/main" name="Commodity Trading Risk Management  - Consulting Toolkit">
  <a:themeElements>
    <a:clrScheme name="Office">
      <a:dk1>
        <a:srgbClr val="000000"/>
      </a:dk1>
      <a:lt1>
        <a:srgbClr val="FFFFFF"/>
      </a:lt1>
      <a:dk2>
        <a:srgbClr val="888888"/>
      </a:dk2>
      <a:lt2>
        <a:srgbClr val="FF3737"/>
      </a:lt2>
      <a:accent1>
        <a:srgbClr val="01294F"/>
      </a:accent1>
      <a:accent2>
        <a:srgbClr val="1D2947"/>
      </a:accent2>
      <a:accent3>
        <a:srgbClr val="33252B"/>
      </a:accent3>
      <a:accent4>
        <a:srgbClr val="888888"/>
      </a:accent4>
      <a:accent5>
        <a:srgbClr val="FF3737"/>
      </a:accent5>
      <a:accent6>
        <a:srgbClr val="01294F"/>
      </a:accent6>
      <a:hlink>
        <a:srgbClr val="1D294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478</Words>
  <Application>Microsoft Macintosh PowerPoint</Application>
  <PresentationFormat>Custom</PresentationFormat>
  <Paragraphs>62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Open Sans</vt:lpstr>
      <vt:lpstr>Russo One</vt:lpstr>
      <vt:lpstr>Commodity Trading Risk Management  - Consulting Toolkit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Rongala, Lakshman Rajith</cp:lastModifiedBy>
  <cp:revision>3</cp:revision>
  <dcterms:modified xsi:type="dcterms:W3CDTF">2026-02-17T01:25:50Z</dcterms:modified>
</cp:coreProperties>
</file>